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68" r:id="rId4"/>
    <p:sldId id="258" r:id="rId5"/>
    <p:sldId id="259" r:id="rId6"/>
    <p:sldId id="260" r:id="rId7"/>
    <p:sldId id="269" r:id="rId8"/>
    <p:sldId id="261" r:id="rId9"/>
    <p:sldId id="262" r:id="rId10"/>
    <p:sldId id="263" r:id="rId11"/>
    <p:sldId id="264" r:id="rId12"/>
    <p:sldId id="265" r:id="rId13"/>
    <p:sldId id="266" r:id="rId14"/>
    <p:sldId id="267"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6" d="100"/>
          <a:sy n="116" d="100"/>
        </p:scale>
        <p:origin x="490"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4562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064002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2726765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image" Target="../media/image12.jpe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jpeg"/><Relationship Id="rId7"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image" Target="../media/image1.jpe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image" Target="../media/image1.jpeg"/><Relationship Id="rId7"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image" Target="../media/image1.jpeg"/><Relationship Id="rId7"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image" Target="../media/image1.jpeg"/><Relationship Id="rId7"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1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291394"/>
            <a:ext cx="9144000" cy="5143500"/>
          </a:xfrm>
          <a:prstGeom prst="rect">
            <a:avLst/>
          </a:prstGeom>
        </p:spPr>
      </p:pic>
      <p:sp>
        <p:nvSpPr>
          <p:cNvPr id="3" name="Text 0"/>
          <p:cNvSpPr/>
          <p:nvPr/>
        </p:nvSpPr>
        <p:spPr>
          <a:xfrm>
            <a:off x="1000125" y="806911"/>
            <a:ext cx="7143750" cy="723916"/>
          </a:xfrm>
          <a:prstGeom prst="rect">
            <a:avLst/>
          </a:prstGeom>
          <a:noFill/>
          <a:ln/>
        </p:spPr>
        <p:txBody>
          <a:bodyPr wrap="square" lIns="0" tIns="0" rIns="0" bIns="0" rtlCol="0" anchor="t">
            <a:spAutoFit/>
          </a:bodyPr>
          <a:lstStyle/>
          <a:p>
            <a:pPr marL="0" indent="0" algn="ctr">
              <a:lnSpc>
                <a:spcPct val="96000"/>
              </a:lnSpc>
              <a:buNone/>
            </a:pPr>
            <a:r>
              <a:rPr lang="en-US" sz="2400" b="1" dirty="0">
                <a:solidFill>
                  <a:srgbClr val="333333"/>
                </a:solidFill>
                <a:latin typeface="Times New Roman" panose="02020603050405020304" pitchFamily="18" charset="0"/>
                <a:ea typeface="Playfair Display Bold" pitchFamily="34" charset="-122"/>
                <a:cs typeface="Times New Roman" panose="02020603050405020304" pitchFamily="18" charset="0"/>
              </a:rPr>
              <a:t>Patient Waiting Time Analysis and Optimization in Hospital Using Business Analytics</a:t>
            </a:r>
            <a:endParaRPr lang="en-US" sz="2400" dirty="0">
              <a:latin typeface="Times New Roman" panose="02020603050405020304" pitchFamily="18" charset="0"/>
              <a:cs typeface="Times New Roman" panose="02020603050405020304" pitchFamily="18" charset="0"/>
            </a:endParaRPr>
          </a:p>
        </p:txBody>
      </p:sp>
      <p:sp>
        <p:nvSpPr>
          <p:cNvPr id="4" name="Text 1"/>
          <p:cNvSpPr/>
          <p:nvPr/>
        </p:nvSpPr>
        <p:spPr>
          <a:xfrm>
            <a:off x="875110" y="2045919"/>
            <a:ext cx="7143982" cy="192360"/>
          </a:xfrm>
          <a:prstGeom prst="rect">
            <a:avLst/>
          </a:prstGeom>
          <a:noFill/>
          <a:ln/>
        </p:spPr>
        <p:txBody>
          <a:bodyPr wrap="square" lIns="0" tIns="0" rIns="0" bIns="0" rtlCol="0" anchor="t">
            <a:spAutoFit/>
          </a:bodyPr>
          <a:lstStyle/>
          <a:p>
            <a:pPr marL="0" indent="0" algn="ctr">
              <a:buNone/>
            </a:pPr>
            <a:r>
              <a:rPr lang="en-US" sz="1250" dirty="0">
                <a:latin typeface="Times New Roman" panose="02020603050405020304" pitchFamily="18" charset="0"/>
                <a:ea typeface="Montserrat Medium" pitchFamily="34" charset="-122"/>
                <a:cs typeface="Times New Roman" panose="02020603050405020304" pitchFamily="18" charset="0"/>
              </a:rPr>
              <a:t>A Research Project on Enhancing Healthcare Efficiency through Data-Driven Insights</a:t>
            </a:r>
            <a:endParaRPr lang="en-US" sz="1250" dirty="0">
              <a:latin typeface="Times New Roman" panose="02020603050405020304" pitchFamily="18" charset="0"/>
              <a:cs typeface="Times New Roman" panose="02020603050405020304" pitchFamily="18" charset="0"/>
            </a:endParaRPr>
          </a:p>
        </p:txBody>
      </p:sp>
      <p:sp>
        <p:nvSpPr>
          <p:cNvPr id="13" name="Shape 10"/>
          <p:cNvSpPr/>
          <p:nvPr/>
        </p:nvSpPr>
        <p:spPr>
          <a:xfrm>
            <a:off x="0" y="4496051"/>
            <a:ext cx="9144000" cy="652236"/>
          </a:xfrm>
          <a:prstGeom prst="rect">
            <a:avLst/>
          </a:prstGeom>
          <a:solidFill>
            <a:srgbClr val="C00000"/>
          </a:solidFill>
          <a:ln/>
        </p:spPr>
      </p:sp>
      <p:sp>
        <p:nvSpPr>
          <p:cNvPr id="14" name="Text 11"/>
          <p:cNvSpPr/>
          <p:nvPr/>
        </p:nvSpPr>
        <p:spPr>
          <a:xfrm>
            <a:off x="285750" y="4721459"/>
            <a:ext cx="5643563" cy="215444"/>
          </a:xfrm>
          <a:prstGeom prst="rect">
            <a:avLst/>
          </a:prstGeom>
          <a:noFill/>
          <a:ln/>
        </p:spPr>
        <p:txBody>
          <a:bodyPr wrap="square" lIns="0" tIns="0" rIns="0" bIns="0" rtlCol="0" anchor="t">
            <a:spAutoFit/>
          </a:bodyPr>
          <a:lstStyle/>
          <a:p>
            <a:pPr marL="0" indent="0" algn="l">
              <a:buNone/>
            </a:pPr>
            <a:r>
              <a:rPr lang="en-US" sz="1400" b="1" dirty="0">
                <a:solidFill>
                  <a:srgbClr val="FFFFFF"/>
                </a:solidFill>
                <a:latin typeface="Times New Roman" panose="02020603050405020304" pitchFamily="18" charset="0"/>
                <a:ea typeface="Microsoft YaHei Light" panose="020B0502040204020203" pitchFamily="34" charset="-122"/>
                <a:cs typeface="Times New Roman" panose="02020603050405020304" pitchFamily="18" charset="0"/>
              </a:rPr>
              <a:t>Dr. Moonje Institute of Management &amp; Computer Studies, Nashik</a:t>
            </a:r>
            <a:endParaRPr lang="en-US" sz="1400" b="1"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6300" y="4407743"/>
            <a:ext cx="1271447" cy="900013"/>
          </a:xfrm>
          <a:prstGeom prst="rect">
            <a:avLst/>
          </a:prstGeom>
        </p:spPr>
      </p:pic>
      <p:sp>
        <p:nvSpPr>
          <p:cNvPr id="16" name="TextBox 15"/>
          <p:cNvSpPr txBox="1"/>
          <p:nvPr/>
        </p:nvSpPr>
        <p:spPr>
          <a:xfrm>
            <a:off x="6265174" y="2752155"/>
            <a:ext cx="1126722" cy="276999"/>
          </a:xfrm>
          <a:prstGeom prst="rect">
            <a:avLst/>
          </a:prstGeom>
          <a:noFill/>
        </p:spPr>
        <p:txBody>
          <a:bodyPr wrap="square" rtlCol="0">
            <a:spAutoFit/>
          </a:bodyPr>
          <a:lstStyle/>
          <a:p>
            <a:r>
              <a:rPr lang="en-US" sz="1200" b="1" dirty="0" smtClean="0">
                <a:solidFill>
                  <a:srgbClr val="C00000"/>
                </a:solidFill>
                <a:latin typeface="Times New Roman" panose="02020603050405020304" pitchFamily="18" charset="0"/>
                <a:cs typeface="Times New Roman" panose="02020603050405020304" pitchFamily="18" charset="0"/>
              </a:rPr>
              <a:t>Hospital</a:t>
            </a:r>
            <a:endParaRPr lang="en-IN" sz="1200" b="1" dirty="0">
              <a:solidFill>
                <a:srgbClr val="C00000"/>
              </a:solidFill>
              <a:latin typeface="Times New Roman" panose="02020603050405020304" pitchFamily="18" charset="0"/>
              <a:cs typeface="Times New Roman" panose="02020603050405020304" pitchFamily="18" charset="0"/>
            </a:endParaRPr>
          </a:p>
        </p:txBody>
      </p:sp>
      <p:grpSp>
        <p:nvGrpSpPr>
          <p:cNvPr id="18" name="Group 17"/>
          <p:cNvGrpSpPr/>
          <p:nvPr/>
        </p:nvGrpSpPr>
        <p:grpSpPr>
          <a:xfrm>
            <a:off x="1245375" y="2780899"/>
            <a:ext cx="6653247" cy="1127428"/>
            <a:chOff x="1714500" y="2821756"/>
            <a:chExt cx="6653247" cy="1127428"/>
          </a:xfrm>
        </p:grpSpPr>
        <p:sp>
          <p:nvSpPr>
            <p:cNvPr id="5" name="Text 2"/>
            <p:cNvSpPr/>
            <p:nvPr/>
          </p:nvSpPr>
          <p:spPr>
            <a:xfrm>
              <a:off x="1714500" y="2821756"/>
              <a:ext cx="2714625" cy="184666"/>
            </a:xfrm>
            <a:prstGeom prst="rect">
              <a:avLst/>
            </a:prstGeom>
            <a:noFill/>
            <a:ln/>
          </p:spPr>
          <p:txBody>
            <a:bodyPr wrap="square" lIns="0" tIns="0" rIns="0" bIns="0" rtlCol="0" anchor="t">
              <a:spAutoFit/>
            </a:bodyPr>
            <a:lstStyle/>
            <a:p>
              <a:pPr marL="0" indent="0" algn="l">
                <a:buNone/>
              </a:pPr>
              <a:r>
                <a:rPr lang="en-US" sz="1200" b="1" dirty="0">
                  <a:solidFill>
                    <a:srgbClr val="C00000"/>
                  </a:solidFill>
                  <a:latin typeface="Times New Roman" panose="02020603050405020304" pitchFamily="18" charset="0"/>
                  <a:ea typeface="Montserrat Medium" pitchFamily="34" charset="-122"/>
                  <a:cs typeface="Times New Roman" panose="02020603050405020304" pitchFamily="18" charset="0"/>
                </a:rPr>
                <a:t>Name of the Student</a:t>
              </a:r>
              <a:endParaRPr lang="en-US" sz="1200" b="1" dirty="0">
                <a:latin typeface="Times New Roman" panose="02020603050405020304" pitchFamily="18" charset="0"/>
                <a:cs typeface="Times New Roman" panose="02020603050405020304" pitchFamily="18" charset="0"/>
              </a:endParaRPr>
            </a:p>
          </p:txBody>
        </p:sp>
        <p:sp>
          <p:nvSpPr>
            <p:cNvPr id="6" name="Text 3"/>
            <p:cNvSpPr/>
            <p:nvPr/>
          </p:nvSpPr>
          <p:spPr>
            <a:xfrm>
              <a:off x="1714500" y="3014637"/>
              <a:ext cx="1753791" cy="169277"/>
            </a:xfrm>
            <a:prstGeom prst="rect">
              <a:avLst/>
            </a:prstGeom>
            <a:noFill/>
            <a:ln/>
          </p:spPr>
          <p:txBody>
            <a:bodyPr wrap="square" lIns="0" tIns="0" rIns="0" bIns="0" rtlCol="0" anchor="t">
              <a:spAutoFit/>
            </a:bodyPr>
            <a:lstStyle/>
            <a:p>
              <a:pPr marL="0" indent="0" algn="l">
                <a:buNone/>
              </a:pPr>
              <a:r>
                <a:rPr lang="en-US" sz="1100" dirty="0">
                  <a:solidFill>
                    <a:srgbClr val="333333"/>
                  </a:solidFill>
                  <a:latin typeface="Times New Roman" panose="02020603050405020304" pitchFamily="18" charset="0"/>
                  <a:ea typeface="Montserrat" pitchFamily="34" charset="-122"/>
                  <a:cs typeface="Times New Roman" panose="02020603050405020304" pitchFamily="18" charset="0"/>
                </a:rPr>
                <a:t>Pranav Umakant Biradar</a:t>
              </a:r>
              <a:endParaRPr lang="en-US" sz="1100" dirty="0">
                <a:latin typeface="Times New Roman" panose="02020603050405020304" pitchFamily="18" charset="0"/>
                <a:cs typeface="Times New Roman" panose="02020603050405020304" pitchFamily="18" charset="0"/>
              </a:endParaRPr>
            </a:p>
          </p:txBody>
        </p:sp>
        <p:sp>
          <p:nvSpPr>
            <p:cNvPr id="7" name="Text 4"/>
            <p:cNvSpPr/>
            <p:nvPr/>
          </p:nvSpPr>
          <p:spPr>
            <a:xfrm>
              <a:off x="4430408" y="2834168"/>
              <a:ext cx="2714625" cy="184666"/>
            </a:xfrm>
            <a:prstGeom prst="rect">
              <a:avLst/>
            </a:prstGeom>
            <a:noFill/>
            <a:ln/>
          </p:spPr>
          <p:txBody>
            <a:bodyPr wrap="square" lIns="0" tIns="0" rIns="0" bIns="0" rtlCol="0" anchor="t">
              <a:spAutoFit/>
            </a:bodyPr>
            <a:lstStyle/>
            <a:p>
              <a:pPr marL="0" indent="0" algn="l">
                <a:buNone/>
              </a:pPr>
              <a:r>
                <a:rPr lang="en-US" sz="1200" b="1" dirty="0">
                  <a:solidFill>
                    <a:srgbClr val="C00000"/>
                  </a:solidFill>
                  <a:latin typeface="Times New Roman" panose="02020603050405020304" pitchFamily="18" charset="0"/>
                  <a:ea typeface="Montserrat Medium" pitchFamily="34" charset="-122"/>
                  <a:cs typeface="Times New Roman" panose="02020603050405020304" pitchFamily="18" charset="0"/>
                </a:rPr>
                <a:t>Specialization</a:t>
              </a:r>
              <a:endParaRPr lang="en-US" sz="1200" b="1" dirty="0">
                <a:latin typeface="Times New Roman" panose="02020603050405020304" pitchFamily="18" charset="0"/>
                <a:cs typeface="Times New Roman" panose="02020603050405020304" pitchFamily="18" charset="0"/>
              </a:endParaRPr>
            </a:p>
          </p:txBody>
        </p:sp>
        <p:sp>
          <p:nvSpPr>
            <p:cNvPr id="8" name="Text 5"/>
            <p:cNvSpPr/>
            <p:nvPr/>
          </p:nvSpPr>
          <p:spPr>
            <a:xfrm>
              <a:off x="4225299" y="3007803"/>
              <a:ext cx="1760934" cy="169277"/>
            </a:xfrm>
            <a:prstGeom prst="rect">
              <a:avLst/>
            </a:prstGeom>
            <a:noFill/>
            <a:ln/>
          </p:spPr>
          <p:txBody>
            <a:bodyPr wrap="square" lIns="0" tIns="0" rIns="0" bIns="0" rtlCol="0" anchor="t">
              <a:spAutoFit/>
            </a:bodyPr>
            <a:lstStyle/>
            <a:p>
              <a:pPr marL="0" indent="0" algn="l">
                <a:buNone/>
              </a:pPr>
              <a:r>
                <a:rPr lang="en-US" sz="1100" dirty="0">
                  <a:solidFill>
                    <a:srgbClr val="333333"/>
                  </a:solidFill>
                  <a:latin typeface="Times New Roman" panose="02020603050405020304" pitchFamily="18" charset="0"/>
                  <a:ea typeface="Montserrat" pitchFamily="34" charset="-122"/>
                  <a:cs typeface="Times New Roman" panose="02020603050405020304" pitchFamily="18" charset="0"/>
                </a:rPr>
                <a:t>MBA 1 (Business Analyst)</a:t>
              </a:r>
              <a:endParaRPr lang="en-US" sz="1100" dirty="0">
                <a:latin typeface="Times New Roman" panose="02020603050405020304" pitchFamily="18" charset="0"/>
                <a:cs typeface="Times New Roman" panose="02020603050405020304" pitchFamily="18" charset="0"/>
              </a:endParaRPr>
            </a:p>
          </p:txBody>
        </p:sp>
        <p:sp>
          <p:nvSpPr>
            <p:cNvPr id="9" name="Text 6"/>
            <p:cNvSpPr/>
            <p:nvPr/>
          </p:nvSpPr>
          <p:spPr>
            <a:xfrm>
              <a:off x="1714500" y="3580779"/>
              <a:ext cx="2714625" cy="184666"/>
            </a:xfrm>
            <a:prstGeom prst="rect">
              <a:avLst/>
            </a:prstGeom>
            <a:noFill/>
            <a:ln/>
          </p:spPr>
          <p:txBody>
            <a:bodyPr wrap="square" lIns="0" tIns="0" rIns="0" bIns="0" rtlCol="0" anchor="t">
              <a:spAutoFit/>
            </a:bodyPr>
            <a:lstStyle/>
            <a:p>
              <a:pPr marL="0" indent="0" algn="l">
                <a:buNone/>
              </a:pPr>
              <a:r>
                <a:rPr lang="en-US" sz="1200" b="1" dirty="0">
                  <a:solidFill>
                    <a:srgbClr val="C00000"/>
                  </a:solidFill>
                  <a:latin typeface="Times New Roman" panose="02020603050405020304" pitchFamily="18" charset="0"/>
                  <a:ea typeface="Montserrat Medium" pitchFamily="34" charset="-122"/>
                  <a:cs typeface="Times New Roman" panose="02020603050405020304" pitchFamily="18" charset="0"/>
                </a:rPr>
                <a:t>Name of the Guide</a:t>
              </a:r>
              <a:endParaRPr lang="en-US" sz="1200" b="1" dirty="0">
                <a:latin typeface="Times New Roman" panose="02020603050405020304" pitchFamily="18" charset="0"/>
                <a:cs typeface="Times New Roman" panose="02020603050405020304" pitchFamily="18" charset="0"/>
              </a:endParaRPr>
            </a:p>
          </p:txBody>
        </p:sp>
        <p:sp>
          <p:nvSpPr>
            <p:cNvPr id="10" name="Text 7"/>
            <p:cNvSpPr/>
            <p:nvPr/>
          </p:nvSpPr>
          <p:spPr>
            <a:xfrm>
              <a:off x="1714500" y="3779907"/>
              <a:ext cx="1480542" cy="169277"/>
            </a:xfrm>
            <a:prstGeom prst="rect">
              <a:avLst/>
            </a:prstGeom>
            <a:noFill/>
            <a:ln/>
          </p:spPr>
          <p:txBody>
            <a:bodyPr wrap="square" lIns="0" tIns="0" rIns="0" bIns="0" rtlCol="0" anchor="t">
              <a:spAutoFit/>
            </a:bodyPr>
            <a:lstStyle/>
            <a:p>
              <a:pPr marL="0" indent="0" algn="l">
                <a:buNone/>
              </a:pPr>
              <a:r>
                <a:rPr lang="en-US" sz="1100" dirty="0">
                  <a:solidFill>
                    <a:srgbClr val="333333"/>
                  </a:solidFill>
                  <a:latin typeface="Times New Roman" panose="02020603050405020304" pitchFamily="18" charset="0"/>
                  <a:ea typeface="Montserrat" pitchFamily="34" charset="-122"/>
                  <a:cs typeface="Times New Roman" panose="02020603050405020304" pitchFamily="18" charset="0"/>
                </a:rPr>
                <a:t>Dr. Radhika Khairnar</a:t>
              </a:r>
              <a:endParaRPr lang="en-US" sz="1100" dirty="0">
                <a:latin typeface="Times New Roman" panose="02020603050405020304" pitchFamily="18" charset="0"/>
                <a:cs typeface="Times New Roman" panose="02020603050405020304" pitchFamily="18" charset="0"/>
              </a:endParaRPr>
            </a:p>
          </p:txBody>
        </p:sp>
        <p:sp>
          <p:nvSpPr>
            <p:cNvPr id="11" name="Text 8"/>
            <p:cNvSpPr/>
            <p:nvPr/>
          </p:nvSpPr>
          <p:spPr>
            <a:xfrm>
              <a:off x="4447101" y="3561890"/>
              <a:ext cx="2714625" cy="184666"/>
            </a:xfrm>
            <a:prstGeom prst="rect">
              <a:avLst/>
            </a:prstGeom>
            <a:noFill/>
            <a:ln/>
          </p:spPr>
          <p:txBody>
            <a:bodyPr wrap="square" lIns="0" tIns="0" rIns="0" bIns="0" rtlCol="0" anchor="t">
              <a:spAutoFit/>
            </a:bodyPr>
            <a:lstStyle/>
            <a:p>
              <a:pPr marL="0" indent="0" algn="l">
                <a:buNone/>
              </a:pPr>
              <a:r>
                <a:rPr lang="en-US" sz="1200" b="1" dirty="0">
                  <a:solidFill>
                    <a:srgbClr val="C00000"/>
                  </a:solidFill>
                  <a:latin typeface="Times New Roman" panose="02020603050405020304" pitchFamily="18" charset="0"/>
                  <a:ea typeface="Montserrat Medium" pitchFamily="34" charset="-122"/>
                  <a:cs typeface="Times New Roman" panose="02020603050405020304" pitchFamily="18" charset="0"/>
                </a:rPr>
                <a:t>Academic Year</a:t>
              </a:r>
              <a:endParaRPr lang="en-US" sz="1200" b="1" dirty="0">
                <a:latin typeface="Times New Roman" panose="02020603050405020304" pitchFamily="18" charset="0"/>
                <a:cs typeface="Times New Roman" panose="02020603050405020304" pitchFamily="18" charset="0"/>
              </a:endParaRPr>
            </a:p>
          </p:txBody>
        </p:sp>
        <p:sp>
          <p:nvSpPr>
            <p:cNvPr id="12" name="Text 9"/>
            <p:cNvSpPr/>
            <p:nvPr/>
          </p:nvSpPr>
          <p:spPr>
            <a:xfrm>
              <a:off x="4571999" y="3765445"/>
              <a:ext cx="610745" cy="169277"/>
            </a:xfrm>
            <a:prstGeom prst="rect">
              <a:avLst/>
            </a:prstGeom>
            <a:noFill/>
            <a:ln/>
          </p:spPr>
          <p:txBody>
            <a:bodyPr wrap="none" lIns="0" tIns="0" rIns="0" bIns="0" rtlCol="0" anchor="t">
              <a:spAutoFit/>
            </a:bodyPr>
            <a:lstStyle/>
            <a:p>
              <a:pPr marL="0" indent="0" algn="l">
                <a:buNone/>
              </a:pPr>
              <a:r>
                <a:rPr lang="en-US" sz="1100" dirty="0">
                  <a:solidFill>
                    <a:srgbClr val="333333"/>
                  </a:solidFill>
                  <a:latin typeface="Times New Roman" panose="02020603050405020304" pitchFamily="18" charset="0"/>
                  <a:ea typeface="Montserrat" pitchFamily="34" charset="-122"/>
                  <a:cs typeface="Times New Roman" panose="02020603050405020304" pitchFamily="18" charset="0"/>
                </a:rPr>
                <a:t>2025-2026</a:t>
              </a:r>
              <a:endParaRPr lang="en-US" sz="1100" dirty="0">
                <a:latin typeface="Times New Roman" panose="02020603050405020304" pitchFamily="18" charset="0"/>
                <a:cs typeface="Times New Roman" panose="02020603050405020304" pitchFamily="18" charset="0"/>
              </a:endParaRPr>
            </a:p>
          </p:txBody>
        </p:sp>
        <p:sp>
          <p:nvSpPr>
            <p:cNvPr id="17" name="TextBox 16"/>
            <p:cNvSpPr txBox="1"/>
            <p:nvPr/>
          </p:nvSpPr>
          <p:spPr>
            <a:xfrm>
              <a:off x="6387644" y="2960306"/>
              <a:ext cx="1980103" cy="253916"/>
            </a:xfrm>
            <a:prstGeom prst="rect">
              <a:avLst/>
            </a:prstGeom>
            <a:noFill/>
          </p:spPr>
          <p:txBody>
            <a:bodyPr wrap="square" rtlCol="0">
              <a:spAutoFit/>
            </a:bodyPr>
            <a:lstStyle/>
            <a:p>
              <a:r>
                <a:rPr lang="en-US" sz="1050" dirty="0" err="1" smtClean="0">
                  <a:latin typeface="Times New Roman" panose="02020603050405020304" pitchFamily="18" charset="0"/>
                  <a:cs typeface="Times New Roman" panose="02020603050405020304" pitchFamily="18" charset="0"/>
                </a:rPr>
                <a:t>Dr.Karad</a:t>
              </a:r>
              <a:r>
                <a:rPr lang="en-US" sz="1050" dirty="0" smtClean="0">
                  <a:latin typeface="Times New Roman" panose="02020603050405020304" pitchFamily="18" charset="0"/>
                  <a:cs typeface="Times New Roman" panose="02020603050405020304" pitchFamily="18" charset="0"/>
                </a:rPr>
                <a:t> </a:t>
              </a:r>
              <a:r>
                <a:rPr lang="en-US" sz="1050" dirty="0" err="1" smtClean="0">
                  <a:latin typeface="Times New Roman" panose="02020603050405020304" pitchFamily="18" charset="0"/>
                  <a:cs typeface="Times New Roman" panose="02020603050405020304" pitchFamily="18" charset="0"/>
                </a:rPr>
                <a:t>Hospital,Nashik</a:t>
              </a:r>
              <a:r>
                <a:rPr lang="en-US" sz="1050" dirty="0" smtClean="0">
                  <a:latin typeface="Times New Roman" panose="02020603050405020304" pitchFamily="18" charset="0"/>
                  <a:cs typeface="Times New Roman" panose="02020603050405020304" pitchFamily="18" charset="0"/>
                </a:rPr>
                <a:t>.</a:t>
              </a:r>
              <a:endParaRPr lang="en-IN" sz="1050" dirty="0">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1684139" cy="362920"/>
          </a:xfrm>
          <a:prstGeom prst="rect">
            <a:avLst/>
          </a:prstGeom>
          <a:noFill/>
          <a:ln/>
        </p:spPr>
        <p:txBody>
          <a:bodyPr wrap="square" lIns="0" tIns="0" rIns="0" bIns="85090" rtlCol="0" anchor="t">
            <a:spAutoFit/>
          </a:bodyPr>
          <a:lstStyle/>
          <a:p>
            <a:pPr marL="0" indent="0" algn="l">
              <a:buNone/>
            </a:pPr>
            <a:r>
              <a:rPr lang="en-US" b="1" dirty="0">
                <a:solidFill>
                  <a:srgbClr val="C00000"/>
                </a:solidFill>
                <a:latin typeface="Times New Roman" panose="02020603050405020304" pitchFamily="18" charset="0"/>
                <a:ea typeface="Playfair Display Bold" pitchFamily="34" charset="-122"/>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pic>
        <p:nvPicPr>
          <p:cNvPr id="4" name="Image 1" descr="preencoded.png"/>
          <p:cNvPicPr>
            <a:picLocks noChangeAspect="1"/>
          </p:cNvPicPr>
          <p:nvPr/>
        </p:nvPicPr>
        <p:blipFill>
          <a:blip r:embed="rId4"/>
          <a:stretch>
            <a:fillRect/>
          </a:stretch>
        </p:blipFill>
        <p:spPr>
          <a:xfrm>
            <a:off x="442913" y="903702"/>
            <a:ext cx="171450" cy="171450"/>
          </a:xfrm>
          <a:prstGeom prst="rect">
            <a:avLst/>
          </a:prstGeom>
        </p:spPr>
      </p:pic>
      <p:sp>
        <p:nvSpPr>
          <p:cNvPr id="5" name="Text 1"/>
          <p:cNvSpPr/>
          <p:nvPr/>
        </p:nvSpPr>
        <p:spPr>
          <a:xfrm>
            <a:off x="707231" y="903762"/>
            <a:ext cx="965008" cy="184666"/>
          </a:xfrm>
          <a:prstGeom prst="rect">
            <a:avLst/>
          </a:prstGeom>
          <a:noFill/>
          <a:ln/>
        </p:spPr>
        <p:txBody>
          <a:bodyPr wrap="none" lIns="0" tIns="0" rIns="0" bIns="0" rtlCol="0" anchor="t">
            <a:spAutoFit/>
          </a:bodyPr>
          <a:lstStyle/>
          <a:p>
            <a:pPr marL="0" indent="0" algn="l">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The </a:t>
            </a:r>
            <a:r>
              <a:rPr lang="en-US" sz="1200" dirty="0" smtClean="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Challenges</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pic>
        <p:nvPicPr>
          <p:cNvPr id="6" name="Image 2" descr="preencoded.png"/>
          <p:cNvPicPr>
            <a:picLocks noChangeAspect="1"/>
          </p:cNvPicPr>
          <p:nvPr/>
        </p:nvPicPr>
        <p:blipFill>
          <a:blip r:embed="rId5"/>
          <a:stretch>
            <a:fillRect/>
          </a:stretch>
        </p:blipFill>
        <p:spPr>
          <a:xfrm>
            <a:off x="428625" y="1475184"/>
            <a:ext cx="100013" cy="100013"/>
          </a:xfrm>
          <a:prstGeom prst="rect">
            <a:avLst/>
          </a:prstGeom>
        </p:spPr>
      </p:pic>
      <p:sp>
        <p:nvSpPr>
          <p:cNvPr id="7" name="Text 2"/>
          <p:cNvSpPr/>
          <p:nvPr/>
        </p:nvSpPr>
        <p:spPr>
          <a:xfrm>
            <a:off x="635794" y="1439466"/>
            <a:ext cx="3721894" cy="388568"/>
          </a:xfrm>
          <a:prstGeom prst="rect">
            <a:avLst/>
          </a:prstGeom>
          <a:noFill/>
          <a:ln/>
        </p:spPr>
        <p:txBody>
          <a:bodyPr wrap="square" lIns="0" tIns="0" rIns="0" bIns="0" rtlCol="0" anchor="t">
            <a:spAutoFit/>
          </a:bodyPr>
          <a:lstStyle/>
          <a:p>
            <a:pPr marL="0" indent="0" algn="just">
              <a:lnSpc>
                <a:spcPct val="120000"/>
              </a:lnSpc>
              <a:buNone/>
            </a:pPr>
            <a:r>
              <a:rPr lang="en-US" sz="1100" dirty="0">
                <a:latin typeface="Times New Roman" panose="02020603050405020304" pitchFamily="18" charset="0"/>
                <a:ea typeface="Montserrat" pitchFamily="34" charset="-122"/>
                <a:cs typeface="Times New Roman" panose="02020603050405020304" pitchFamily="18" charset="0"/>
              </a:rPr>
              <a:t>Patient waiting time is a critical indicator of healthcare quality and patient satisfaction.</a:t>
            </a:r>
            <a:endParaRPr lang="en-US" sz="1100" dirty="0">
              <a:latin typeface="Times New Roman" panose="02020603050405020304" pitchFamily="18" charset="0"/>
              <a:cs typeface="Times New Roman" panose="02020603050405020304" pitchFamily="18" charset="0"/>
            </a:endParaRPr>
          </a:p>
        </p:txBody>
      </p:sp>
      <p:pic>
        <p:nvPicPr>
          <p:cNvPr id="8" name="Image 3" descr="preencoded.png"/>
          <p:cNvPicPr>
            <a:picLocks noChangeAspect="1"/>
          </p:cNvPicPr>
          <p:nvPr/>
        </p:nvPicPr>
        <p:blipFill>
          <a:blip r:embed="rId5"/>
          <a:stretch>
            <a:fillRect/>
          </a:stretch>
        </p:blipFill>
        <p:spPr>
          <a:xfrm>
            <a:off x="428625" y="2003822"/>
            <a:ext cx="100013" cy="100013"/>
          </a:xfrm>
          <a:prstGeom prst="rect">
            <a:avLst/>
          </a:prstGeom>
        </p:spPr>
      </p:pic>
      <p:sp>
        <p:nvSpPr>
          <p:cNvPr id="9" name="Text 3"/>
          <p:cNvSpPr/>
          <p:nvPr/>
        </p:nvSpPr>
        <p:spPr>
          <a:xfrm>
            <a:off x="635794" y="1968103"/>
            <a:ext cx="3721894" cy="388568"/>
          </a:xfrm>
          <a:prstGeom prst="rect">
            <a:avLst/>
          </a:prstGeom>
          <a:noFill/>
          <a:ln/>
        </p:spPr>
        <p:txBody>
          <a:bodyPr wrap="square" lIns="0" tIns="0" rIns="0" bIns="0" rtlCol="0" anchor="t">
            <a:spAutoFit/>
          </a:bodyPr>
          <a:lstStyle/>
          <a:p>
            <a:pPr marL="0" indent="0" algn="just">
              <a:lnSpc>
                <a:spcPct val="120000"/>
              </a:lnSpc>
              <a:buNone/>
            </a:pPr>
            <a:r>
              <a:rPr lang="en-US" sz="1100" dirty="0">
                <a:latin typeface="Times New Roman" panose="02020603050405020304" pitchFamily="18" charset="0"/>
                <a:ea typeface="Montserrat" pitchFamily="34" charset="-122"/>
                <a:cs typeface="Times New Roman" panose="02020603050405020304" pitchFamily="18" charset="0"/>
              </a:rPr>
              <a:t>Prolonged delays lead to patient frustration and can negatively impact clinical outcomes.</a:t>
            </a:r>
            <a:endParaRPr lang="en-US" sz="1100" dirty="0">
              <a:latin typeface="Times New Roman" panose="02020603050405020304" pitchFamily="18" charset="0"/>
              <a:cs typeface="Times New Roman" panose="02020603050405020304" pitchFamily="18" charset="0"/>
            </a:endParaRPr>
          </a:p>
        </p:txBody>
      </p:sp>
      <p:pic>
        <p:nvPicPr>
          <p:cNvPr id="10" name="Image 4" descr="preencoded.png"/>
          <p:cNvPicPr>
            <a:picLocks noChangeAspect="1"/>
          </p:cNvPicPr>
          <p:nvPr/>
        </p:nvPicPr>
        <p:blipFill>
          <a:blip r:embed="rId5"/>
          <a:stretch>
            <a:fillRect/>
          </a:stretch>
        </p:blipFill>
        <p:spPr>
          <a:xfrm>
            <a:off x="428625" y="2532459"/>
            <a:ext cx="100013" cy="100013"/>
          </a:xfrm>
          <a:prstGeom prst="rect">
            <a:avLst/>
          </a:prstGeom>
        </p:spPr>
      </p:pic>
      <p:sp>
        <p:nvSpPr>
          <p:cNvPr id="11" name="Text 4"/>
          <p:cNvSpPr/>
          <p:nvPr/>
        </p:nvSpPr>
        <p:spPr>
          <a:xfrm>
            <a:off x="635794" y="2496741"/>
            <a:ext cx="3721894" cy="388568"/>
          </a:xfrm>
          <a:prstGeom prst="rect">
            <a:avLst/>
          </a:prstGeom>
          <a:noFill/>
          <a:ln/>
        </p:spPr>
        <p:txBody>
          <a:bodyPr wrap="square" lIns="0" tIns="0" rIns="0" bIns="0" rtlCol="0" anchor="t">
            <a:spAutoFit/>
          </a:bodyPr>
          <a:lstStyle/>
          <a:p>
            <a:pPr marL="0" indent="0" algn="just">
              <a:lnSpc>
                <a:spcPct val="120000"/>
              </a:lnSpc>
              <a:buNone/>
            </a:pPr>
            <a:r>
              <a:rPr lang="en-US" sz="1100" dirty="0">
                <a:latin typeface="Times New Roman" panose="02020603050405020304" pitchFamily="18" charset="0"/>
                <a:ea typeface="Montserrat" pitchFamily="34" charset="-122"/>
                <a:cs typeface="Times New Roman" panose="02020603050405020304" pitchFamily="18" charset="0"/>
              </a:rPr>
              <a:t>Inefficient patient flow often results in resource underutilization and increased operational costs.</a:t>
            </a:r>
            <a:endParaRPr lang="en-US" sz="1100" dirty="0">
              <a:latin typeface="Times New Roman" panose="02020603050405020304" pitchFamily="18" charset="0"/>
              <a:cs typeface="Times New Roman" panose="02020603050405020304" pitchFamily="18" charset="0"/>
            </a:endParaRPr>
          </a:p>
        </p:txBody>
      </p:sp>
      <p:pic>
        <p:nvPicPr>
          <p:cNvPr id="12" name="Image 5" descr="preencoded.png"/>
          <p:cNvPicPr>
            <a:picLocks noChangeAspect="1"/>
          </p:cNvPicPr>
          <p:nvPr/>
        </p:nvPicPr>
        <p:blipFill>
          <a:blip r:embed="rId6"/>
          <a:stretch>
            <a:fillRect/>
          </a:stretch>
        </p:blipFill>
        <p:spPr>
          <a:xfrm>
            <a:off x="4776312" y="916978"/>
            <a:ext cx="171450" cy="171450"/>
          </a:xfrm>
          <a:prstGeom prst="rect">
            <a:avLst/>
          </a:prstGeom>
        </p:spPr>
      </p:pic>
      <p:sp>
        <p:nvSpPr>
          <p:cNvPr id="13" name="Text 5"/>
          <p:cNvSpPr/>
          <p:nvPr/>
        </p:nvSpPr>
        <p:spPr>
          <a:xfrm>
            <a:off x="5000983" y="921241"/>
            <a:ext cx="2044898" cy="184666"/>
          </a:xfrm>
          <a:prstGeom prst="rect">
            <a:avLst/>
          </a:prstGeom>
          <a:noFill/>
          <a:ln/>
        </p:spPr>
        <p:txBody>
          <a:bodyPr wrap="square" lIns="0" tIns="0" rIns="0" bIns="0" rtlCol="0" anchor="t">
            <a:spAutoFit/>
          </a:bodyPr>
          <a:lstStyle/>
          <a:p>
            <a:pPr marL="0" indent="0" algn="l">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Business Analytics Role</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pic>
        <p:nvPicPr>
          <p:cNvPr id="14" name="Image 6" descr="preencoded.png"/>
          <p:cNvPicPr>
            <a:picLocks noChangeAspect="1"/>
          </p:cNvPicPr>
          <p:nvPr/>
        </p:nvPicPr>
        <p:blipFill>
          <a:blip r:embed="rId5"/>
          <a:stretch>
            <a:fillRect/>
          </a:stretch>
        </p:blipFill>
        <p:spPr>
          <a:xfrm>
            <a:off x="4786313" y="1475184"/>
            <a:ext cx="100013" cy="100013"/>
          </a:xfrm>
          <a:prstGeom prst="rect">
            <a:avLst/>
          </a:prstGeom>
        </p:spPr>
      </p:pic>
      <p:sp>
        <p:nvSpPr>
          <p:cNvPr id="15" name="Text 6"/>
          <p:cNvSpPr/>
          <p:nvPr/>
        </p:nvSpPr>
        <p:spPr>
          <a:xfrm>
            <a:off x="4993481" y="1439466"/>
            <a:ext cx="3721894" cy="388568"/>
          </a:xfrm>
          <a:prstGeom prst="rect">
            <a:avLst/>
          </a:prstGeom>
          <a:noFill/>
          <a:ln/>
        </p:spPr>
        <p:txBody>
          <a:bodyPr wrap="square" lIns="0" tIns="0" rIns="0" bIns="0" rtlCol="0" anchor="t">
            <a:spAutoFit/>
          </a:bodyPr>
          <a:lstStyle/>
          <a:p>
            <a:pPr marL="0" indent="0" algn="just">
              <a:lnSpc>
                <a:spcPct val="120000"/>
              </a:lnSpc>
              <a:buNone/>
            </a:pPr>
            <a:r>
              <a:rPr lang="en-US" sz="1100" dirty="0">
                <a:solidFill>
                  <a:srgbClr val="444444"/>
                </a:solidFill>
                <a:latin typeface="Times New Roman" panose="02020603050405020304" pitchFamily="18" charset="0"/>
                <a:ea typeface="Montserrat" pitchFamily="34" charset="-122"/>
                <a:cs typeface="Times New Roman" panose="02020603050405020304" pitchFamily="18" charset="0"/>
              </a:rPr>
              <a:t>Leveraging data mining and predictive modeling to identify hidden bottlenecks in the system.</a:t>
            </a:r>
            <a:endParaRPr lang="en-US" sz="1100" dirty="0">
              <a:latin typeface="Times New Roman" panose="02020603050405020304" pitchFamily="18" charset="0"/>
              <a:cs typeface="Times New Roman" panose="02020603050405020304" pitchFamily="18" charset="0"/>
            </a:endParaRPr>
          </a:p>
        </p:txBody>
      </p:sp>
      <p:pic>
        <p:nvPicPr>
          <p:cNvPr id="16" name="Image 7" descr="preencoded.png"/>
          <p:cNvPicPr>
            <a:picLocks noChangeAspect="1"/>
          </p:cNvPicPr>
          <p:nvPr/>
        </p:nvPicPr>
        <p:blipFill>
          <a:blip r:embed="rId5"/>
          <a:stretch>
            <a:fillRect/>
          </a:stretch>
        </p:blipFill>
        <p:spPr>
          <a:xfrm>
            <a:off x="4786313" y="2003822"/>
            <a:ext cx="100013" cy="100013"/>
          </a:xfrm>
          <a:prstGeom prst="rect">
            <a:avLst/>
          </a:prstGeom>
        </p:spPr>
      </p:pic>
      <p:sp>
        <p:nvSpPr>
          <p:cNvPr id="17" name="Text 7"/>
          <p:cNvSpPr/>
          <p:nvPr/>
        </p:nvSpPr>
        <p:spPr>
          <a:xfrm>
            <a:off x="4993481" y="1968103"/>
            <a:ext cx="3721894" cy="388568"/>
          </a:xfrm>
          <a:prstGeom prst="rect">
            <a:avLst/>
          </a:prstGeom>
          <a:noFill/>
          <a:ln/>
        </p:spPr>
        <p:txBody>
          <a:bodyPr wrap="square" lIns="0" tIns="0" rIns="0" bIns="0" rtlCol="0" anchor="t">
            <a:spAutoFit/>
          </a:bodyPr>
          <a:lstStyle/>
          <a:p>
            <a:pPr marL="0" indent="0" algn="just">
              <a:lnSpc>
                <a:spcPct val="120000"/>
              </a:lnSpc>
              <a:buNone/>
            </a:pPr>
            <a:r>
              <a:rPr lang="en-US" sz="1100" dirty="0">
                <a:latin typeface="Times New Roman" panose="02020603050405020304" pitchFamily="18" charset="0"/>
                <a:ea typeface="Montserrat" pitchFamily="34" charset="-122"/>
                <a:cs typeface="Times New Roman" panose="02020603050405020304" pitchFamily="18" charset="0"/>
              </a:rPr>
              <a:t>Using statistical analysis to optimize staffing levels and scheduling based on patient arrival patterns.</a:t>
            </a:r>
            <a:endParaRPr lang="en-US" sz="1100" dirty="0">
              <a:latin typeface="Times New Roman" panose="02020603050405020304" pitchFamily="18" charset="0"/>
              <a:cs typeface="Times New Roman" panose="02020603050405020304" pitchFamily="18" charset="0"/>
            </a:endParaRPr>
          </a:p>
        </p:txBody>
      </p:sp>
      <p:pic>
        <p:nvPicPr>
          <p:cNvPr id="18" name="Image 8" descr="preencoded.png"/>
          <p:cNvPicPr>
            <a:picLocks noChangeAspect="1"/>
          </p:cNvPicPr>
          <p:nvPr/>
        </p:nvPicPr>
        <p:blipFill>
          <a:blip r:embed="rId5"/>
          <a:stretch>
            <a:fillRect/>
          </a:stretch>
        </p:blipFill>
        <p:spPr>
          <a:xfrm>
            <a:off x="4786313" y="2532459"/>
            <a:ext cx="100013" cy="100013"/>
          </a:xfrm>
          <a:prstGeom prst="rect">
            <a:avLst/>
          </a:prstGeom>
        </p:spPr>
      </p:pic>
      <p:sp>
        <p:nvSpPr>
          <p:cNvPr id="19" name="Text 8"/>
          <p:cNvSpPr/>
          <p:nvPr/>
        </p:nvSpPr>
        <p:spPr>
          <a:xfrm>
            <a:off x="4993481" y="2496741"/>
            <a:ext cx="3721894" cy="388568"/>
          </a:xfrm>
          <a:prstGeom prst="rect">
            <a:avLst/>
          </a:prstGeom>
          <a:noFill/>
          <a:ln/>
        </p:spPr>
        <p:txBody>
          <a:bodyPr wrap="square" lIns="0" tIns="0" rIns="0" bIns="0" rtlCol="0" anchor="t">
            <a:spAutoFit/>
          </a:bodyPr>
          <a:lstStyle/>
          <a:p>
            <a:pPr marL="0" indent="0" algn="just">
              <a:lnSpc>
                <a:spcPct val="120000"/>
              </a:lnSpc>
              <a:buNone/>
            </a:pPr>
            <a:r>
              <a:rPr lang="en-US" sz="1100" dirty="0">
                <a:latin typeface="Times New Roman" panose="02020603050405020304" pitchFamily="18" charset="0"/>
                <a:cs typeface="Times New Roman" panose="02020603050405020304" pitchFamily="18" charset="0"/>
              </a:rPr>
              <a:t>Transforming raw hospital data into actionable insights for operational excellence.</a:t>
            </a:r>
          </a:p>
        </p:txBody>
      </p:sp>
      <p:sp>
        <p:nvSpPr>
          <p:cNvPr id="20" name="Shape 9"/>
          <p:cNvSpPr/>
          <p:nvPr/>
        </p:nvSpPr>
        <p:spPr>
          <a:xfrm>
            <a:off x="0" y="4571999"/>
            <a:ext cx="9144000" cy="571500"/>
          </a:xfrm>
          <a:prstGeom prst="rect">
            <a:avLst/>
          </a:prstGeom>
          <a:solidFill>
            <a:srgbClr val="C00000"/>
          </a:solidFill>
          <a:ln/>
        </p:spPr>
      </p:sp>
      <p:sp>
        <p:nvSpPr>
          <p:cNvPr id="21" name="Text 10"/>
          <p:cNvSpPr/>
          <p:nvPr/>
        </p:nvSpPr>
        <p:spPr>
          <a:xfrm>
            <a:off x="285750" y="4757692"/>
            <a:ext cx="5033010" cy="215444"/>
          </a:xfrm>
          <a:prstGeom prst="rect">
            <a:avLst/>
          </a:prstGeom>
          <a:noFill/>
          <a:ln/>
        </p:spPr>
        <p:txBody>
          <a:bodyPr wrap="square" lIns="0" tIns="0" rIns="0" bIns="0" rtlCol="0" anchor="t">
            <a:spAutoFit/>
          </a:bodyPr>
          <a:lstStyle/>
          <a:p>
            <a:pPr marL="0" indent="0" algn="l">
              <a:buNone/>
            </a:pPr>
            <a:r>
              <a:rPr lang="en-US" sz="1400" b="1" dirty="0">
                <a:solidFill>
                  <a:srgbClr val="FFFFFF"/>
                </a:solidFill>
                <a:latin typeface="Times New Roman" panose="02020603050405020304" pitchFamily="18" charset="0"/>
                <a:ea typeface="Microsoft YaHei Light" panose="020B0502040204020203" pitchFamily="34" charset="-122"/>
                <a:cs typeface="Times New Roman" panose="02020603050405020304" pitchFamily="18" charset="0"/>
              </a:rPr>
              <a:t>Dr. Moonje Institute of Management &amp; Computer Studies, Nashik</a:t>
            </a:r>
            <a:endParaRPr lang="en-US" sz="1400" b="1"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pic>
        <p:nvPicPr>
          <p:cNvPr id="22" name="Picture 2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96300" y="4407743"/>
            <a:ext cx="1271447" cy="90001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98000"/>
            <a:ext cx="9144000" cy="5143500"/>
          </a:xfrm>
          <a:prstGeom prst="rect">
            <a:avLst/>
          </a:prstGeom>
        </p:spPr>
      </p:pic>
      <p:sp>
        <p:nvSpPr>
          <p:cNvPr id="3" name="Text 0"/>
          <p:cNvSpPr/>
          <p:nvPr/>
        </p:nvSpPr>
        <p:spPr>
          <a:xfrm>
            <a:off x="428625" y="285750"/>
            <a:ext cx="3003947" cy="362920"/>
          </a:xfrm>
          <a:prstGeom prst="rect">
            <a:avLst/>
          </a:prstGeom>
          <a:noFill/>
          <a:ln/>
        </p:spPr>
        <p:txBody>
          <a:bodyPr wrap="square" lIns="0" tIns="0" rIns="0" bIns="85090" rtlCol="0" anchor="t">
            <a:spAutoFit/>
          </a:bodyPr>
          <a:lstStyle/>
          <a:p>
            <a:pPr marL="0" indent="0" algn="l">
              <a:buNone/>
            </a:pPr>
            <a:r>
              <a:rPr lang="en-US" b="1" dirty="0" smtClean="0">
                <a:solidFill>
                  <a:srgbClr val="C00000"/>
                </a:solidFill>
                <a:latin typeface="Times New Roman" panose="02020603050405020304" pitchFamily="18" charset="0"/>
                <a:ea typeface="Playfair Display Bold" pitchFamily="34" charset="-122"/>
                <a:cs typeface="Times New Roman" panose="02020603050405020304" pitchFamily="18" charset="0"/>
              </a:rPr>
              <a:t>Hospital Profile</a:t>
            </a:r>
            <a:endParaRPr lang="en-US" dirty="0">
              <a:latin typeface="Times New Roman" panose="02020603050405020304" pitchFamily="18" charset="0"/>
              <a:cs typeface="Times New Roman" panose="02020603050405020304" pitchFamily="18" charset="0"/>
            </a:endParaRPr>
          </a:p>
        </p:txBody>
      </p:sp>
      <p:sp>
        <p:nvSpPr>
          <p:cNvPr id="4" name="Text 1"/>
          <p:cNvSpPr/>
          <p:nvPr/>
        </p:nvSpPr>
        <p:spPr>
          <a:xfrm>
            <a:off x="360210" y="843705"/>
            <a:ext cx="5972940" cy="2793072"/>
          </a:xfrm>
          <a:prstGeom prst="rect">
            <a:avLst/>
          </a:prstGeom>
          <a:noFill/>
          <a:ln/>
        </p:spPr>
        <p:txBody>
          <a:bodyPr wrap="square" lIns="0" tIns="0" rIns="0" bIns="0" rtlCol="0" anchor="t">
            <a:spAutoFit/>
          </a:bodyPr>
          <a:lstStyle/>
          <a:p>
            <a:pPr algn="just">
              <a:lnSpc>
                <a:spcPct val="150000"/>
              </a:lnSpc>
            </a:pPr>
            <a:r>
              <a:rPr lang="en-US" sz="1100" b="1" dirty="0">
                <a:latin typeface="Times New Roman" panose="02020603050405020304" pitchFamily="18" charset="0"/>
                <a:cs typeface="Times New Roman" panose="02020603050405020304" pitchFamily="18" charset="0"/>
              </a:rPr>
              <a:t>Dr. </a:t>
            </a:r>
            <a:r>
              <a:rPr lang="en-US" sz="1100" b="1" dirty="0" err="1">
                <a:latin typeface="Times New Roman" panose="02020603050405020304" pitchFamily="18" charset="0"/>
                <a:cs typeface="Times New Roman" panose="02020603050405020304" pitchFamily="18" charset="0"/>
              </a:rPr>
              <a:t>Karad</a:t>
            </a:r>
            <a:r>
              <a:rPr lang="en-US" sz="1100" b="1" dirty="0">
                <a:latin typeface="Times New Roman" panose="02020603050405020304" pitchFamily="18" charset="0"/>
                <a:cs typeface="Times New Roman" panose="02020603050405020304" pitchFamily="18" charset="0"/>
              </a:rPr>
              <a:t> Hospital </a:t>
            </a:r>
            <a:r>
              <a:rPr lang="en-US" sz="1100" dirty="0">
                <a:latin typeface="Times New Roman" panose="02020603050405020304" pitchFamily="18" charset="0"/>
                <a:cs typeface="Times New Roman" panose="02020603050405020304" pitchFamily="18" charset="0"/>
              </a:rPr>
              <a:t>is a healthcare institution located in </a:t>
            </a:r>
            <a:r>
              <a:rPr lang="en-US" sz="1100" dirty="0" err="1">
                <a:latin typeface="Times New Roman" panose="02020603050405020304" pitchFamily="18" charset="0"/>
                <a:cs typeface="Times New Roman" panose="02020603050405020304" pitchFamily="18" charset="0"/>
              </a:rPr>
              <a:t>Satpur</a:t>
            </a:r>
            <a:r>
              <a:rPr lang="en-US" sz="1100" dirty="0">
                <a:latin typeface="Times New Roman" panose="02020603050405020304" pitchFamily="18" charset="0"/>
                <a:cs typeface="Times New Roman" panose="02020603050405020304" pitchFamily="18" charset="0"/>
              </a:rPr>
              <a:t>, Nashik, providing medical services to patients from nearby urban and rural areas. The hospital offers various healthcare facilities including outpatient consultation, registration, diagnostic services, treatment, and billing services.</a:t>
            </a:r>
          </a:p>
          <a:p>
            <a:pPr>
              <a:lnSpc>
                <a:spcPct val="150000"/>
              </a:lnSpc>
            </a:pPr>
            <a:endParaRPr lang="en-US" sz="1100" dirty="0">
              <a:latin typeface="Times New Roman" panose="02020603050405020304" pitchFamily="18" charset="0"/>
              <a:cs typeface="Times New Roman" panose="02020603050405020304" pitchFamily="18" charset="0"/>
            </a:endParaRPr>
          </a:p>
          <a:p>
            <a:pPr algn="just">
              <a:lnSpc>
                <a:spcPct val="150000"/>
              </a:lnSpc>
            </a:pPr>
            <a:r>
              <a:rPr lang="en-US" sz="1100" dirty="0">
                <a:latin typeface="Times New Roman" panose="02020603050405020304" pitchFamily="18" charset="0"/>
                <a:cs typeface="Times New Roman" panose="02020603050405020304" pitchFamily="18" charset="0"/>
              </a:rPr>
              <a:t>The hospital focuses on delivering quality healthcare services with proper patient care and operational efficiency. Due to increasing patient flow and service demand, managing patient waiting time and maintaining smooth hospital operations have become important aspects of hospital management.</a:t>
            </a:r>
          </a:p>
          <a:p>
            <a:pPr>
              <a:lnSpc>
                <a:spcPct val="150000"/>
              </a:lnSpc>
            </a:pPr>
            <a:endParaRPr lang="en-US" sz="1100" dirty="0">
              <a:latin typeface="Times New Roman" panose="02020603050405020304" pitchFamily="18" charset="0"/>
              <a:cs typeface="Times New Roman" panose="02020603050405020304" pitchFamily="18" charset="0"/>
            </a:endParaRPr>
          </a:p>
          <a:p>
            <a:pPr algn="just">
              <a:lnSpc>
                <a:spcPct val="150000"/>
              </a:lnSpc>
            </a:pPr>
            <a:r>
              <a:rPr lang="en-US" sz="1100" dirty="0">
                <a:latin typeface="Times New Roman" panose="02020603050405020304" pitchFamily="18" charset="0"/>
                <a:cs typeface="Times New Roman" panose="02020603050405020304" pitchFamily="18" charset="0"/>
              </a:rPr>
              <a:t>The hospital uses both manual and digital processes for patient management and service delivery. The study was conducted in this hospital to analyze patient waiting time, identify operational inefficiencies, and suggest optimization strategies using business analytics techniques.</a:t>
            </a:r>
          </a:p>
        </p:txBody>
      </p:sp>
      <p:sp>
        <p:nvSpPr>
          <p:cNvPr id="8" name="Text 2"/>
          <p:cNvSpPr/>
          <p:nvPr/>
        </p:nvSpPr>
        <p:spPr>
          <a:xfrm>
            <a:off x="955318" y="1277354"/>
            <a:ext cx="4728435" cy="171585"/>
          </a:xfrm>
          <a:prstGeom prst="rect">
            <a:avLst/>
          </a:prstGeom>
          <a:noFill/>
          <a:ln/>
        </p:spPr>
        <p:txBody>
          <a:bodyPr wrap="square" lIns="0" tIns="0" rIns="0" bIns="0" rtlCol="0" anchor="t">
            <a:spAutoFit/>
          </a:bodyPr>
          <a:lstStyle/>
          <a:p>
            <a:pPr marL="0" indent="0" algn="l">
              <a:lnSpc>
                <a:spcPct val="112000"/>
              </a:lnSpc>
              <a:buNone/>
            </a:pPr>
            <a:endParaRPr lang="en-US" sz="1050" dirty="0">
              <a:latin typeface="Palatino Linotype" panose="02040502050505030304" pitchFamily="18" charset="0"/>
            </a:endParaRPr>
          </a:p>
        </p:txBody>
      </p:sp>
      <p:sp>
        <p:nvSpPr>
          <p:cNvPr id="9" name="Text 3"/>
          <p:cNvSpPr/>
          <p:nvPr/>
        </p:nvSpPr>
        <p:spPr>
          <a:xfrm>
            <a:off x="956765" y="1084812"/>
            <a:ext cx="65" cy="171585"/>
          </a:xfrm>
          <a:prstGeom prst="rect">
            <a:avLst/>
          </a:prstGeom>
          <a:noFill/>
          <a:ln/>
        </p:spPr>
        <p:txBody>
          <a:bodyPr wrap="none" lIns="0" tIns="0" rIns="0" bIns="0" rtlCol="0" anchor="t">
            <a:spAutoFit/>
          </a:bodyPr>
          <a:lstStyle/>
          <a:p>
            <a:pPr marL="0" indent="0" algn="l">
              <a:lnSpc>
                <a:spcPct val="112000"/>
              </a:lnSpc>
              <a:buNone/>
            </a:pPr>
            <a:endParaRPr lang="en-US" sz="1050" dirty="0">
              <a:latin typeface="Palatino Linotype" panose="02040502050505030304" pitchFamily="18" charset="0"/>
            </a:endParaRPr>
          </a:p>
        </p:txBody>
      </p:sp>
      <p:sp>
        <p:nvSpPr>
          <p:cNvPr id="11" name="Text 4"/>
          <p:cNvSpPr/>
          <p:nvPr/>
        </p:nvSpPr>
        <p:spPr>
          <a:xfrm>
            <a:off x="950842" y="1484606"/>
            <a:ext cx="65" cy="171585"/>
          </a:xfrm>
          <a:prstGeom prst="rect">
            <a:avLst/>
          </a:prstGeom>
          <a:noFill/>
          <a:ln/>
        </p:spPr>
        <p:txBody>
          <a:bodyPr wrap="none" lIns="0" tIns="0" rIns="0" bIns="0" rtlCol="0" anchor="t">
            <a:spAutoFit/>
          </a:bodyPr>
          <a:lstStyle/>
          <a:p>
            <a:pPr marL="0" indent="0" algn="l">
              <a:lnSpc>
                <a:spcPct val="112000"/>
              </a:lnSpc>
              <a:buNone/>
            </a:pPr>
            <a:endParaRPr lang="en-US" sz="1050" dirty="0">
              <a:latin typeface="Palatino Linotype" panose="02040502050505030304" pitchFamily="18" charset="0"/>
            </a:endParaRPr>
          </a:p>
        </p:txBody>
      </p:sp>
      <p:sp>
        <p:nvSpPr>
          <p:cNvPr id="12" name="Shape 5"/>
          <p:cNvSpPr/>
          <p:nvPr/>
        </p:nvSpPr>
        <p:spPr>
          <a:xfrm>
            <a:off x="0" y="4670000"/>
            <a:ext cx="9144000" cy="571500"/>
          </a:xfrm>
          <a:prstGeom prst="rect">
            <a:avLst/>
          </a:prstGeom>
          <a:solidFill>
            <a:srgbClr val="C00000"/>
          </a:solidFill>
          <a:ln/>
        </p:spPr>
      </p:sp>
      <p:sp>
        <p:nvSpPr>
          <p:cNvPr id="13" name="Text 6"/>
          <p:cNvSpPr/>
          <p:nvPr/>
        </p:nvSpPr>
        <p:spPr>
          <a:xfrm>
            <a:off x="285750" y="4848028"/>
            <a:ext cx="5314950" cy="215444"/>
          </a:xfrm>
          <a:prstGeom prst="rect">
            <a:avLst/>
          </a:prstGeom>
          <a:noFill/>
          <a:ln/>
        </p:spPr>
        <p:txBody>
          <a:bodyPr wrap="square" lIns="0" tIns="0" rIns="0" bIns="0" rtlCol="0" anchor="t">
            <a:spAutoFit/>
          </a:bodyPr>
          <a:lstStyle/>
          <a:p>
            <a:pPr marL="0" indent="0" algn="l">
              <a:buNone/>
            </a:pPr>
            <a:r>
              <a:rPr lang="en-US" sz="1400" b="1" dirty="0">
                <a:solidFill>
                  <a:srgbClr val="FFFFFF"/>
                </a:solidFill>
                <a:latin typeface="Times New Roman" panose="02020603050405020304" pitchFamily="18" charset="0"/>
                <a:ea typeface="Microsoft YaHei Light" panose="020B0502040204020203" pitchFamily="34" charset="-122"/>
                <a:cs typeface="Times New Roman" panose="02020603050405020304" pitchFamily="18" charset="0"/>
              </a:rPr>
              <a:t>Dr. Moonje Institute of Management &amp; Computer Studies, Nashik</a:t>
            </a:r>
            <a:endParaRPr lang="en-US" sz="1400" b="1"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6300" y="4407743"/>
            <a:ext cx="1271447" cy="900013"/>
          </a:xfrm>
          <a:prstGeom prst="rect">
            <a:avLst/>
          </a:prstGeom>
        </p:spPr>
      </p:pic>
      <p:pic>
        <p:nvPicPr>
          <p:cNvPr id="15" name="Picture 14"/>
          <p:cNvPicPr>
            <a:picLocks noChangeAspect="1"/>
          </p:cNvPicPr>
          <p:nvPr/>
        </p:nvPicPr>
        <p:blipFill>
          <a:blip r:embed="rId5"/>
          <a:stretch>
            <a:fillRect/>
          </a:stretch>
        </p:blipFill>
        <p:spPr>
          <a:xfrm>
            <a:off x="6467520" y="753015"/>
            <a:ext cx="2529006" cy="316397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49372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428625" y="285750"/>
            <a:ext cx="3003947" cy="362920"/>
          </a:xfrm>
          <a:prstGeom prst="rect">
            <a:avLst/>
          </a:prstGeom>
          <a:noFill/>
          <a:ln/>
        </p:spPr>
        <p:txBody>
          <a:bodyPr wrap="square" lIns="0" tIns="0" rIns="0" bIns="85090" rtlCol="0" anchor="t">
            <a:spAutoFit/>
          </a:bodyPr>
          <a:lstStyle/>
          <a:p>
            <a:pPr marL="0" indent="0" algn="l">
              <a:buNone/>
            </a:pPr>
            <a:r>
              <a:rPr lang="en-US" b="1" dirty="0">
                <a:solidFill>
                  <a:srgbClr val="C00000"/>
                </a:solidFill>
                <a:latin typeface="Times New Roman" panose="02020603050405020304" pitchFamily="18" charset="0"/>
                <a:ea typeface="Playfair Display Bold" pitchFamily="34" charset="-122"/>
                <a:cs typeface="Times New Roman" panose="02020603050405020304" pitchFamily="18" charset="0"/>
              </a:rPr>
              <a:t>Objectives of the Study</a:t>
            </a:r>
            <a:endParaRPr lang="en-US" dirty="0">
              <a:latin typeface="Times New Roman" panose="02020603050405020304" pitchFamily="18" charset="0"/>
              <a:cs typeface="Times New Roman" panose="02020603050405020304" pitchFamily="18" charset="0"/>
            </a:endParaRPr>
          </a:p>
        </p:txBody>
      </p:sp>
      <p:sp>
        <p:nvSpPr>
          <p:cNvPr id="4" name="Text 1"/>
          <p:cNvSpPr/>
          <p:nvPr/>
        </p:nvSpPr>
        <p:spPr>
          <a:xfrm>
            <a:off x="955318" y="912277"/>
            <a:ext cx="6522619" cy="369268"/>
          </a:xfrm>
          <a:prstGeom prst="rect">
            <a:avLst/>
          </a:prstGeom>
          <a:noFill/>
          <a:ln/>
        </p:spPr>
        <p:txBody>
          <a:bodyPr wrap="none" lIns="0" tIns="0" rIns="0" bIns="0" rtlCol="0" anchor="t">
            <a:spAutoFit/>
          </a:bodyPr>
          <a:lstStyle/>
          <a:p>
            <a:pPr>
              <a:lnSpc>
                <a:spcPct val="112000"/>
              </a:lnSpc>
            </a:pPr>
            <a:r>
              <a:rPr lang="en-US" sz="1100" dirty="0">
                <a:latin typeface="Times New Roman" panose="02020603050405020304" pitchFamily="18" charset="0"/>
                <a:cs typeface="Times New Roman" panose="02020603050405020304" pitchFamily="18" charset="0"/>
              </a:rPr>
              <a:t>To analyze the waiting time at different stages of the hospital service process, including registration, consultation, </a:t>
            </a:r>
            <a:r>
              <a:rPr lang="en-US" sz="1100" dirty="0" smtClean="0">
                <a:latin typeface="Times New Roman" panose="02020603050405020304" pitchFamily="18" charset="0"/>
                <a:cs typeface="Times New Roman" panose="02020603050405020304" pitchFamily="18" charset="0"/>
              </a:rPr>
              <a:t/>
            </a:r>
            <a:br>
              <a:rPr lang="en-US" sz="1100" dirty="0" smtClean="0">
                <a:latin typeface="Times New Roman" panose="02020603050405020304" pitchFamily="18" charset="0"/>
                <a:cs typeface="Times New Roman" panose="02020603050405020304" pitchFamily="18" charset="0"/>
              </a:rPr>
            </a:br>
            <a:r>
              <a:rPr lang="en-US" sz="1100" dirty="0" smtClean="0">
                <a:latin typeface="Times New Roman" panose="02020603050405020304" pitchFamily="18" charset="0"/>
                <a:cs typeface="Times New Roman" panose="02020603050405020304" pitchFamily="18" charset="0"/>
              </a:rPr>
              <a:t>diagnostic </a:t>
            </a:r>
            <a:r>
              <a:rPr lang="en-US" sz="1100" dirty="0">
                <a:latin typeface="Times New Roman" panose="02020603050405020304" pitchFamily="18" charset="0"/>
                <a:cs typeface="Times New Roman" panose="02020603050405020304" pitchFamily="18" charset="0"/>
              </a:rPr>
              <a:t>services, pharmacy, and billing, in order to identify the major sources of delay</a:t>
            </a:r>
          </a:p>
        </p:txBody>
      </p:sp>
      <p:pic>
        <p:nvPicPr>
          <p:cNvPr id="6" name="Image 2" descr="preencoded.png"/>
          <p:cNvPicPr>
            <a:picLocks noChangeAspect="1"/>
          </p:cNvPicPr>
          <p:nvPr/>
        </p:nvPicPr>
        <p:blipFill>
          <a:blip r:embed="rId3"/>
          <a:stretch>
            <a:fillRect/>
          </a:stretch>
        </p:blipFill>
        <p:spPr>
          <a:xfrm>
            <a:off x="669568" y="950657"/>
            <a:ext cx="142875" cy="142875"/>
          </a:xfrm>
          <a:prstGeom prst="rect">
            <a:avLst/>
          </a:prstGeom>
        </p:spPr>
      </p:pic>
      <p:sp>
        <p:nvSpPr>
          <p:cNvPr id="8" name="Text 2"/>
          <p:cNvSpPr/>
          <p:nvPr/>
        </p:nvSpPr>
        <p:spPr>
          <a:xfrm>
            <a:off x="955318" y="1414595"/>
            <a:ext cx="6522619" cy="379206"/>
          </a:xfrm>
          <a:prstGeom prst="rect">
            <a:avLst/>
          </a:prstGeom>
          <a:noFill/>
          <a:ln/>
        </p:spPr>
        <p:txBody>
          <a:bodyPr wrap="square" lIns="0" tIns="0" rIns="0" bIns="0" rtlCol="0" anchor="t">
            <a:spAutoFit/>
          </a:bodyPr>
          <a:lstStyle/>
          <a:p>
            <a:pPr>
              <a:lnSpc>
                <a:spcPct val="112000"/>
              </a:lnSpc>
            </a:pPr>
            <a:r>
              <a:rPr lang="en-US" sz="1100" dirty="0">
                <a:latin typeface="Times New Roman" panose="02020603050405020304" pitchFamily="18" charset="0"/>
                <a:cs typeface="Times New Roman" panose="02020603050405020304" pitchFamily="18" charset="0"/>
              </a:rPr>
              <a:t>To identify the operational factors responsible for increased patient waiting time, such as patient flow, staff availability, resource utilization, appointment scheduling, and process inefficiencies.</a:t>
            </a:r>
            <a:endParaRPr lang="en-US" sz="1100" dirty="0">
              <a:latin typeface="Times New Roman" panose="02020603050405020304" pitchFamily="18" charset="0"/>
              <a:cs typeface="Times New Roman" panose="02020603050405020304" pitchFamily="18" charset="0"/>
            </a:endParaRPr>
          </a:p>
        </p:txBody>
      </p:sp>
      <p:sp>
        <p:nvSpPr>
          <p:cNvPr id="9" name="Text 3"/>
          <p:cNvSpPr/>
          <p:nvPr/>
        </p:nvSpPr>
        <p:spPr>
          <a:xfrm>
            <a:off x="1089307" y="1519097"/>
            <a:ext cx="65" cy="171585"/>
          </a:xfrm>
          <a:prstGeom prst="rect">
            <a:avLst/>
          </a:prstGeom>
          <a:noFill/>
          <a:ln/>
        </p:spPr>
        <p:txBody>
          <a:bodyPr wrap="none" lIns="0" tIns="0" rIns="0" bIns="0" rtlCol="0" anchor="t">
            <a:spAutoFit/>
          </a:bodyPr>
          <a:lstStyle/>
          <a:p>
            <a:pPr marL="0" indent="0" algn="l">
              <a:lnSpc>
                <a:spcPct val="112000"/>
              </a:lnSpc>
              <a:buNone/>
            </a:pPr>
            <a:endParaRPr lang="en-US" sz="1050" dirty="0">
              <a:latin typeface="Palatino Linotype" panose="02040502050505030304" pitchFamily="18" charset="0"/>
            </a:endParaRPr>
          </a:p>
        </p:txBody>
      </p:sp>
      <p:pic>
        <p:nvPicPr>
          <p:cNvPr id="5" name="Image 1" descr="preencoded.png"/>
          <p:cNvPicPr>
            <a:picLocks noChangeAspect="1"/>
          </p:cNvPicPr>
          <p:nvPr/>
        </p:nvPicPr>
        <p:blipFill>
          <a:blip r:embed="rId3"/>
          <a:stretch>
            <a:fillRect/>
          </a:stretch>
        </p:blipFill>
        <p:spPr>
          <a:xfrm>
            <a:off x="669535" y="1447659"/>
            <a:ext cx="142875" cy="142875"/>
          </a:xfrm>
          <a:prstGeom prst="rect">
            <a:avLst/>
          </a:prstGeom>
        </p:spPr>
      </p:pic>
      <p:pic>
        <p:nvPicPr>
          <p:cNvPr id="7" name="Image 3" descr="preencoded.png"/>
          <p:cNvPicPr>
            <a:picLocks noChangeAspect="1"/>
          </p:cNvPicPr>
          <p:nvPr/>
        </p:nvPicPr>
        <p:blipFill>
          <a:blip r:embed="rId3"/>
          <a:stretch>
            <a:fillRect/>
          </a:stretch>
        </p:blipFill>
        <p:spPr>
          <a:xfrm>
            <a:off x="669568" y="1977969"/>
            <a:ext cx="142875" cy="142875"/>
          </a:xfrm>
          <a:prstGeom prst="rect">
            <a:avLst/>
          </a:prstGeom>
        </p:spPr>
      </p:pic>
      <p:pic>
        <p:nvPicPr>
          <p:cNvPr id="10" name="Image 4" descr="preencoded.png"/>
          <p:cNvPicPr>
            <a:picLocks noChangeAspect="1"/>
          </p:cNvPicPr>
          <p:nvPr/>
        </p:nvPicPr>
        <p:blipFill>
          <a:blip r:embed="rId3"/>
          <a:stretch>
            <a:fillRect/>
          </a:stretch>
        </p:blipFill>
        <p:spPr>
          <a:xfrm>
            <a:off x="669534" y="2474971"/>
            <a:ext cx="142875" cy="142875"/>
          </a:xfrm>
          <a:prstGeom prst="rect">
            <a:avLst/>
          </a:prstGeom>
        </p:spPr>
      </p:pic>
      <p:sp>
        <p:nvSpPr>
          <p:cNvPr id="11" name="Text 4"/>
          <p:cNvSpPr/>
          <p:nvPr/>
        </p:nvSpPr>
        <p:spPr>
          <a:xfrm>
            <a:off x="950842" y="1484606"/>
            <a:ext cx="65" cy="171585"/>
          </a:xfrm>
          <a:prstGeom prst="rect">
            <a:avLst/>
          </a:prstGeom>
          <a:noFill/>
          <a:ln/>
        </p:spPr>
        <p:txBody>
          <a:bodyPr wrap="none" lIns="0" tIns="0" rIns="0" bIns="0" rtlCol="0" anchor="t">
            <a:spAutoFit/>
          </a:bodyPr>
          <a:lstStyle/>
          <a:p>
            <a:pPr marL="0" indent="0" algn="l">
              <a:lnSpc>
                <a:spcPct val="112000"/>
              </a:lnSpc>
              <a:buNone/>
            </a:pPr>
            <a:endParaRPr lang="en-US" sz="1050" dirty="0">
              <a:latin typeface="Palatino Linotype" panose="02040502050505030304" pitchFamily="18" charset="0"/>
            </a:endParaRPr>
          </a:p>
        </p:txBody>
      </p:sp>
      <p:sp>
        <p:nvSpPr>
          <p:cNvPr id="12" name="Shape 5"/>
          <p:cNvSpPr/>
          <p:nvPr/>
        </p:nvSpPr>
        <p:spPr>
          <a:xfrm>
            <a:off x="0" y="4585146"/>
            <a:ext cx="9144000" cy="571500"/>
          </a:xfrm>
          <a:prstGeom prst="rect">
            <a:avLst/>
          </a:prstGeom>
          <a:solidFill>
            <a:srgbClr val="C00000"/>
          </a:solidFill>
          <a:ln/>
        </p:spPr>
      </p:sp>
      <p:sp>
        <p:nvSpPr>
          <p:cNvPr id="13" name="Text 6"/>
          <p:cNvSpPr/>
          <p:nvPr/>
        </p:nvSpPr>
        <p:spPr>
          <a:xfrm>
            <a:off x="285750" y="4743449"/>
            <a:ext cx="5141444" cy="215444"/>
          </a:xfrm>
          <a:prstGeom prst="rect">
            <a:avLst/>
          </a:prstGeom>
          <a:noFill/>
          <a:ln/>
        </p:spPr>
        <p:txBody>
          <a:bodyPr wrap="square" lIns="0" tIns="0" rIns="0" bIns="0" rtlCol="0" anchor="t">
            <a:spAutoFit/>
          </a:bodyPr>
          <a:lstStyle/>
          <a:p>
            <a:pPr marL="0" indent="0" algn="l">
              <a:buNone/>
            </a:pPr>
            <a:r>
              <a:rPr lang="en-US" sz="1400" b="1" dirty="0">
                <a:solidFill>
                  <a:srgbClr val="FFFFFF"/>
                </a:solidFill>
                <a:latin typeface="Times New Roman" panose="02020603050405020304" pitchFamily="18" charset="0"/>
                <a:ea typeface="Microsoft YaHei Light" panose="020B0502040204020203" pitchFamily="34" charset="-122"/>
                <a:cs typeface="Times New Roman" panose="02020603050405020304" pitchFamily="18" charset="0"/>
              </a:rPr>
              <a:t>Dr. Moonje Institute of Management &amp; Computer Studies, Nashik</a:t>
            </a:r>
            <a:endParaRPr lang="en-US" sz="1400" b="1"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6300" y="4407743"/>
            <a:ext cx="1271447" cy="900013"/>
          </a:xfrm>
          <a:prstGeom prst="rect">
            <a:avLst/>
          </a:prstGeom>
        </p:spPr>
      </p:pic>
      <p:sp>
        <p:nvSpPr>
          <p:cNvPr id="2" name="Rectangle 1"/>
          <p:cNvSpPr/>
          <p:nvPr/>
        </p:nvSpPr>
        <p:spPr>
          <a:xfrm>
            <a:off x="871639" y="1896919"/>
            <a:ext cx="6606297" cy="471539"/>
          </a:xfrm>
          <a:prstGeom prst="rect">
            <a:avLst/>
          </a:prstGeom>
        </p:spPr>
        <p:txBody>
          <a:bodyPr wrap="square">
            <a:spAutoFit/>
          </a:bodyPr>
          <a:lstStyle/>
          <a:p>
            <a:pPr>
              <a:lnSpc>
                <a:spcPct val="112000"/>
              </a:lnSpc>
            </a:pPr>
            <a:r>
              <a:rPr lang="en-US" sz="1100" dirty="0">
                <a:latin typeface="Times New Roman" panose="02020603050405020304" pitchFamily="18" charset="0"/>
                <a:cs typeface="Times New Roman" panose="02020603050405020304" pitchFamily="18" charset="0"/>
              </a:rPr>
              <a:t>To apply business analytics techniques for evaluating hospital operations and recommend data-driven strategies to optimize workflows, reduce waiting time, and improve operational efficiency.</a:t>
            </a:r>
            <a:endParaRPr lang="en-US" sz="1100" dirty="0">
              <a:latin typeface="Times New Roman" panose="02020603050405020304" pitchFamily="18" charset="0"/>
              <a:cs typeface="Times New Roman" panose="02020603050405020304" pitchFamily="18" charset="0"/>
            </a:endParaRPr>
          </a:p>
        </p:txBody>
      </p:sp>
      <p:sp>
        <p:nvSpPr>
          <p:cNvPr id="16" name="Rectangle 15"/>
          <p:cNvSpPr/>
          <p:nvPr/>
        </p:nvSpPr>
        <p:spPr>
          <a:xfrm>
            <a:off x="871638" y="2400526"/>
            <a:ext cx="6469875" cy="430887"/>
          </a:xfrm>
          <a:prstGeom prst="rect">
            <a:avLst/>
          </a:prstGeom>
        </p:spPr>
        <p:txBody>
          <a:bodyPr wrap="square">
            <a:spAutoFit/>
          </a:bodyPr>
          <a:lstStyle/>
          <a:p>
            <a:r>
              <a:rPr lang="en-US" sz="1100" dirty="0">
                <a:latin typeface="Times New Roman" panose="02020603050405020304" pitchFamily="18" charset="0"/>
                <a:cs typeface="Times New Roman" panose="02020603050405020304" pitchFamily="18" charset="0"/>
              </a:rPr>
              <a:t>To assess patient satisfaction regarding hospital waiting time and service quality, and examine how waiting time influences the overall patient experience and healthcare delivery</a:t>
            </a:r>
            <a:endParaRPr lang="en-IN" sz="1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428625" y="285750"/>
            <a:ext cx="2341364" cy="362920"/>
          </a:xfrm>
          <a:prstGeom prst="rect">
            <a:avLst/>
          </a:prstGeom>
          <a:noFill/>
          <a:ln/>
        </p:spPr>
        <p:txBody>
          <a:bodyPr wrap="square" lIns="0" tIns="0" rIns="0" bIns="85090" rtlCol="0" anchor="t">
            <a:spAutoFit/>
          </a:bodyPr>
          <a:lstStyle/>
          <a:p>
            <a:pPr marL="0" indent="0" algn="l">
              <a:buNone/>
            </a:pPr>
            <a:r>
              <a:rPr lang="en-US" b="1" dirty="0">
                <a:solidFill>
                  <a:srgbClr val="C00000"/>
                </a:solidFill>
                <a:latin typeface="Times New Roman" panose="02020603050405020304" pitchFamily="18" charset="0"/>
                <a:ea typeface="Playfair Display Bold" pitchFamily="34" charset="-122"/>
                <a:cs typeface="Times New Roman" panose="02020603050405020304" pitchFamily="18" charset="0"/>
              </a:rPr>
              <a:t>Literature Review</a:t>
            </a:r>
            <a:endParaRPr lang="en-US" dirty="0">
              <a:latin typeface="Times New Roman" panose="02020603050405020304" pitchFamily="18" charset="0"/>
              <a:cs typeface="Times New Roman" panose="02020603050405020304" pitchFamily="18" charset="0"/>
            </a:endParaRPr>
          </a:p>
        </p:txBody>
      </p:sp>
      <p:pic>
        <p:nvPicPr>
          <p:cNvPr id="4" name="Image 1" descr="preencoded.png"/>
          <p:cNvPicPr>
            <a:picLocks noChangeAspect="1"/>
          </p:cNvPicPr>
          <p:nvPr/>
        </p:nvPicPr>
        <p:blipFill>
          <a:blip r:embed="rId3"/>
          <a:stretch>
            <a:fillRect/>
          </a:stretch>
        </p:blipFill>
        <p:spPr>
          <a:xfrm>
            <a:off x="428625" y="1065133"/>
            <a:ext cx="192881" cy="171450"/>
          </a:xfrm>
          <a:prstGeom prst="rect">
            <a:avLst/>
          </a:prstGeom>
        </p:spPr>
      </p:pic>
      <p:sp>
        <p:nvSpPr>
          <p:cNvPr id="5" name="Text 1"/>
          <p:cNvSpPr/>
          <p:nvPr/>
        </p:nvSpPr>
        <p:spPr>
          <a:xfrm>
            <a:off x="728663" y="1051917"/>
            <a:ext cx="929613" cy="184666"/>
          </a:xfrm>
          <a:prstGeom prst="rect">
            <a:avLst/>
          </a:prstGeom>
          <a:noFill/>
          <a:ln/>
        </p:spPr>
        <p:txBody>
          <a:bodyPr wrap="none" lIns="0" tIns="0" rIns="0" bIns="0" rtlCol="0" anchor="t">
            <a:spAutoFit/>
          </a:bodyPr>
          <a:lstStyle/>
          <a:p>
            <a:pPr marL="0" indent="0" algn="l">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Current Trends</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6" name="Text 2"/>
          <p:cNvSpPr/>
          <p:nvPr/>
        </p:nvSpPr>
        <p:spPr>
          <a:xfrm>
            <a:off x="428625" y="1350169"/>
            <a:ext cx="4000500" cy="649986"/>
          </a:xfrm>
          <a:prstGeom prst="rect">
            <a:avLst/>
          </a:prstGeom>
          <a:noFill/>
          <a:ln/>
        </p:spPr>
        <p:txBody>
          <a:bodyPr wrap="square" lIns="331724" tIns="0" rIns="0" bIns="0" rtlCol="0" anchor="t">
            <a:spAutoFit/>
          </a:bodyPr>
          <a:lstStyle/>
          <a:p>
            <a:pPr marL="0" indent="0" algn="just">
              <a:lnSpc>
                <a:spcPct val="128000"/>
              </a:lnSpc>
              <a:buNone/>
            </a:pPr>
            <a:r>
              <a:rPr lang="en-US" sz="1100" dirty="0">
                <a:latin typeface="Times New Roman" panose="02020603050405020304" pitchFamily="18" charset="0"/>
                <a:ea typeface="Montserrat" pitchFamily="34" charset="-122"/>
                <a:cs typeface="Times New Roman" panose="02020603050405020304" pitchFamily="18" charset="0"/>
              </a:rPr>
              <a:t>Studies indicate that over 30% of patient dissatisfaction stems from long waiting periods, highlighting wait time as a primary quality metric in modern healthcare.</a:t>
            </a:r>
            <a:endParaRPr lang="en-US" sz="1100" dirty="0">
              <a:latin typeface="Times New Roman" panose="02020603050405020304" pitchFamily="18" charset="0"/>
              <a:cs typeface="Times New Roman" panose="02020603050405020304" pitchFamily="18" charset="0"/>
            </a:endParaRPr>
          </a:p>
        </p:txBody>
      </p:sp>
      <p:pic>
        <p:nvPicPr>
          <p:cNvPr id="7" name="Image 2" descr="preencoded.png"/>
          <p:cNvPicPr>
            <a:picLocks noChangeAspect="1"/>
          </p:cNvPicPr>
          <p:nvPr/>
        </p:nvPicPr>
        <p:blipFill>
          <a:blip r:embed="rId4"/>
          <a:stretch>
            <a:fillRect/>
          </a:stretch>
        </p:blipFill>
        <p:spPr>
          <a:xfrm>
            <a:off x="4714875" y="1065133"/>
            <a:ext cx="171450" cy="171450"/>
          </a:xfrm>
          <a:prstGeom prst="rect">
            <a:avLst/>
          </a:prstGeom>
        </p:spPr>
      </p:pic>
      <p:sp>
        <p:nvSpPr>
          <p:cNvPr id="8" name="Text 3"/>
          <p:cNvSpPr/>
          <p:nvPr/>
        </p:nvSpPr>
        <p:spPr>
          <a:xfrm>
            <a:off x="4993481" y="1051917"/>
            <a:ext cx="2041327" cy="184666"/>
          </a:xfrm>
          <a:prstGeom prst="rect">
            <a:avLst/>
          </a:prstGeom>
          <a:noFill/>
          <a:ln/>
        </p:spPr>
        <p:txBody>
          <a:bodyPr wrap="square" lIns="0" tIns="0" rIns="0" bIns="0" rtlCol="0" anchor="t">
            <a:spAutoFit/>
          </a:bodyPr>
          <a:lstStyle/>
          <a:p>
            <a:pPr marL="0" indent="0" algn="l">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Technological Integration</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9" name="Text 4"/>
          <p:cNvSpPr/>
          <p:nvPr/>
        </p:nvSpPr>
        <p:spPr>
          <a:xfrm>
            <a:off x="4714875" y="1350169"/>
            <a:ext cx="4000500" cy="649986"/>
          </a:xfrm>
          <a:prstGeom prst="rect">
            <a:avLst/>
          </a:prstGeom>
          <a:noFill/>
          <a:ln/>
        </p:spPr>
        <p:txBody>
          <a:bodyPr wrap="square" lIns="331724" tIns="0" rIns="0" bIns="0" rtlCol="0" anchor="t">
            <a:spAutoFit/>
          </a:bodyPr>
          <a:lstStyle/>
          <a:p>
            <a:pPr marL="0" indent="0" algn="just">
              <a:lnSpc>
                <a:spcPct val="128000"/>
              </a:lnSpc>
              <a:buNone/>
            </a:pPr>
            <a:r>
              <a:rPr lang="en-US" sz="1100" dirty="0">
                <a:latin typeface="Times New Roman" panose="02020603050405020304" pitchFamily="18" charset="0"/>
                <a:ea typeface="Montserrat" pitchFamily="34" charset="-122"/>
                <a:cs typeface="Times New Roman" panose="02020603050405020304" pitchFamily="18" charset="0"/>
              </a:rPr>
              <a:t>The integration of Business Intelligence (BI) tools and AI enables real-time patient tracking and predictive resource allocation to mitigate delays.</a:t>
            </a:r>
            <a:endParaRPr lang="en-US" sz="1100" dirty="0">
              <a:latin typeface="Times New Roman" panose="02020603050405020304" pitchFamily="18" charset="0"/>
              <a:cs typeface="Times New Roman" panose="02020603050405020304" pitchFamily="18" charset="0"/>
            </a:endParaRPr>
          </a:p>
        </p:txBody>
      </p:sp>
      <p:pic>
        <p:nvPicPr>
          <p:cNvPr id="10" name="Image 3" descr="preencoded.png"/>
          <p:cNvPicPr>
            <a:picLocks noChangeAspect="1"/>
          </p:cNvPicPr>
          <p:nvPr/>
        </p:nvPicPr>
        <p:blipFill>
          <a:blip r:embed="rId5"/>
          <a:stretch>
            <a:fillRect/>
          </a:stretch>
        </p:blipFill>
        <p:spPr>
          <a:xfrm>
            <a:off x="428625" y="2964656"/>
            <a:ext cx="192881" cy="171450"/>
          </a:xfrm>
          <a:prstGeom prst="rect">
            <a:avLst/>
          </a:prstGeom>
        </p:spPr>
      </p:pic>
      <p:sp>
        <p:nvSpPr>
          <p:cNvPr id="11" name="Text 5"/>
          <p:cNvSpPr/>
          <p:nvPr/>
        </p:nvSpPr>
        <p:spPr>
          <a:xfrm>
            <a:off x="728663" y="2954834"/>
            <a:ext cx="1814513" cy="184666"/>
          </a:xfrm>
          <a:prstGeom prst="rect">
            <a:avLst/>
          </a:prstGeom>
          <a:noFill/>
          <a:ln/>
        </p:spPr>
        <p:txBody>
          <a:bodyPr wrap="square" lIns="0" tIns="0" rIns="0" bIns="0" rtlCol="0" anchor="t">
            <a:spAutoFit/>
          </a:bodyPr>
          <a:lstStyle/>
          <a:p>
            <a:pPr marL="0" indent="0" algn="l">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Analytical Frameworks</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12" name="Text 6"/>
          <p:cNvSpPr/>
          <p:nvPr/>
        </p:nvSpPr>
        <p:spPr>
          <a:xfrm>
            <a:off x="428625" y="3253085"/>
            <a:ext cx="4000500" cy="649986"/>
          </a:xfrm>
          <a:prstGeom prst="rect">
            <a:avLst/>
          </a:prstGeom>
          <a:noFill/>
          <a:ln/>
        </p:spPr>
        <p:txBody>
          <a:bodyPr wrap="square" lIns="331724" tIns="0" rIns="0" bIns="0" rtlCol="0" anchor="t">
            <a:spAutoFit/>
          </a:bodyPr>
          <a:lstStyle/>
          <a:p>
            <a:pPr marL="0" indent="0" algn="just">
              <a:lnSpc>
                <a:spcPct val="128000"/>
              </a:lnSpc>
              <a:buNone/>
            </a:pPr>
            <a:r>
              <a:rPr lang="en-US" sz="1100" dirty="0">
                <a:latin typeface="Times New Roman" panose="02020603050405020304" pitchFamily="18" charset="0"/>
                <a:ea typeface="Montserrat" pitchFamily="34" charset="-122"/>
                <a:cs typeface="Times New Roman" panose="02020603050405020304" pitchFamily="18" charset="0"/>
              </a:rPr>
              <a:t>Previous research emphasizes the efficacy of Queuing Theory and Lean Six Sigma methodologies in streamlining hospital workflows and reducing non-value-added time.</a:t>
            </a:r>
            <a:endParaRPr lang="en-US" sz="1100" dirty="0">
              <a:latin typeface="Times New Roman" panose="02020603050405020304" pitchFamily="18" charset="0"/>
              <a:cs typeface="Times New Roman" panose="02020603050405020304" pitchFamily="18" charset="0"/>
            </a:endParaRPr>
          </a:p>
        </p:txBody>
      </p:sp>
      <p:pic>
        <p:nvPicPr>
          <p:cNvPr id="13" name="Image 4" descr="preencoded.png"/>
          <p:cNvPicPr>
            <a:picLocks noChangeAspect="1"/>
          </p:cNvPicPr>
          <p:nvPr/>
        </p:nvPicPr>
        <p:blipFill>
          <a:blip r:embed="rId6"/>
          <a:stretch>
            <a:fillRect/>
          </a:stretch>
        </p:blipFill>
        <p:spPr>
          <a:xfrm>
            <a:off x="4714875" y="2964656"/>
            <a:ext cx="171450" cy="171450"/>
          </a:xfrm>
          <a:prstGeom prst="rect">
            <a:avLst/>
          </a:prstGeom>
        </p:spPr>
      </p:pic>
      <p:sp>
        <p:nvSpPr>
          <p:cNvPr id="14" name="Text 7"/>
          <p:cNvSpPr/>
          <p:nvPr/>
        </p:nvSpPr>
        <p:spPr>
          <a:xfrm>
            <a:off x="4993481" y="2954834"/>
            <a:ext cx="825098" cy="184666"/>
          </a:xfrm>
          <a:prstGeom prst="rect">
            <a:avLst/>
          </a:prstGeom>
          <a:noFill/>
          <a:ln/>
        </p:spPr>
        <p:txBody>
          <a:bodyPr wrap="none" lIns="0" tIns="0" rIns="0" bIns="0" rtlCol="0" anchor="t">
            <a:spAutoFit/>
          </a:bodyPr>
          <a:lstStyle/>
          <a:p>
            <a:pPr marL="0" indent="0" algn="l">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Gap Analysis</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15" name="Text 8"/>
          <p:cNvSpPr/>
          <p:nvPr/>
        </p:nvSpPr>
        <p:spPr>
          <a:xfrm>
            <a:off x="4714875" y="3253085"/>
            <a:ext cx="4000500" cy="649986"/>
          </a:xfrm>
          <a:prstGeom prst="rect">
            <a:avLst/>
          </a:prstGeom>
          <a:noFill/>
          <a:ln/>
        </p:spPr>
        <p:txBody>
          <a:bodyPr wrap="square" lIns="331724" tIns="0" rIns="0" bIns="0" rtlCol="0" anchor="t">
            <a:spAutoFit/>
          </a:bodyPr>
          <a:lstStyle/>
          <a:p>
            <a:pPr marL="0" indent="0" algn="just">
              <a:lnSpc>
                <a:spcPct val="128000"/>
              </a:lnSpc>
              <a:buNone/>
            </a:pPr>
            <a:r>
              <a:rPr lang="en-US" sz="1100" dirty="0">
                <a:latin typeface="Times New Roman" panose="02020603050405020304" pitchFamily="18" charset="0"/>
                <a:ea typeface="Montserrat" pitchFamily="34" charset="-122"/>
                <a:cs typeface="Times New Roman" panose="02020603050405020304" pitchFamily="18" charset="0"/>
              </a:rPr>
              <a:t>There is a significant need for localized studies in Indian management contexts to address specific infrastructural challenges and cultural arrival patterns.</a:t>
            </a:r>
            <a:endParaRPr lang="en-US" sz="1100" dirty="0">
              <a:latin typeface="Times New Roman" panose="02020603050405020304" pitchFamily="18" charset="0"/>
              <a:cs typeface="Times New Roman" panose="02020603050405020304" pitchFamily="18" charset="0"/>
            </a:endParaRPr>
          </a:p>
        </p:txBody>
      </p:sp>
      <p:sp>
        <p:nvSpPr>
          <p:cNvPr id="16" name="Shape 9"/>
          <p:cNvSpPr/>
          <p:nvPr/>
        </p:nvSpPr>
        <p:spPr>
          <a:xfrm>
            <a:off x="0" y="4564761"/>
            <a:ext cx="9143999" cy="571500"/>
          </a:xfrm>
          <a:prstGeom prst="rect">
            <a:avLst/>
          </a:prstGeom>
          <a:solidFill>
            <a:srgbClr val="C00000"/>
          </a:solidFill>
          <a:ln/>
        </p:spPr>
      </p:sp>
      <p:sp>
        <p:nvSpPr>
          <p:cNvPr id="17" name="Text 10"/>
          <p:cNvSpPr/>
          <p:nvPr/>
        </p:nvSpPr>
        <p:spPr>
          <a:xfrm>
            <a:off x="219002" y="4750027"/>
            <a:ext cx="5101974" cy="215444"/>
          </a:xfrm>
          <a:prstGeom prst="rect">
            <a:avLst/>
          </a:prstGeom>
          <a:noFill/>
          <a:ln/>
        </p:spPr>
        <p:txBody>
          <a:bodyPr wrap="square" lIns="0" tIns="0" rIns="0" bIns="0" rtlCol="0" anchor="t">
            <a:spAutoFit/>
          </a:bodyPr>
          <a:lstStyle/>
          <a:p>
            <a:pPr marL="0" indent="0" algn="l">
              <a:buNone/>
            </a:pPr>
            <a:r>
              <a:rPr lang="en-US" sz="1400" b="1" dirty="0">
                <a:solidFill>
                  <a:srgbClr val="FFFFFF"/>
                </a:solidFill>
                <a:latin typeface="Times New Roman" panose="02020603050405020304" pitchFamily="18" charset="0"/>
                <a:ea typeface="Microsoft YaHei Light" panose="020B0502040204020203" pitchFamily="34" charset="-122"/>
                <a:cs typeface="Times New Roman" panose="02020603050405020304" pitchFamily="18" charset="0"/>
              </a:rPr>
              <a:t>Dr. Moonje Institute of Management &amp; Computer Studies, Nashik</a:t>
            </a:r>
            <a:endParaRPr lang="en-US" sz="1400" b="1"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pic>
        <p:nvPicPr>
          <p:cNvPr id="18" name="Picture 1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96300" y="4407743"/>
            <a:ext cx="1271447" cy="90001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9734"/>
            <a:ext cx="9144000" cy="5143500"/>
          </a:xfrm>
          <a:prstGeom prst="rect">
            <a:avLst/>
          </a:prstGeom>
        </p:spPr>
      </p:pic>
      <p:sp>
        <p:nvSpPr>
          <p:cNvPr id="3" name="Text 0"/>
          <p:cNvSpPr/>
          <p:nvPr/>
        </p:nvSpPr>
        <p:spPr>
          <a:xfrm>
            <a:off x="428625" y="285750"/>
            <a:ext cx="2993231" cy="362920"/>
          </a:xfrm>
          <a:prstGeom prst="rect">
            <a:avLst/>
          </a:prstGeom>
          <a:noFill/>
          <a:ln/>
        </p:spPr>
        <p:txBody>
          <a:bodyPr wrap="square" lIns="0" tIns="0" rIns="0" bIns="85090" rtlCol="0" anchor="t">
            <a:spAutoFit/>
          </a:bodyPr>
          <a:lstStyle/>
          <a:p>
            <a:pPr marL="0" indent="0" algn="l">
              <a:buNone/>
            </a:pPr>
            <a:r>
              <a:rPr lang="en-US" b="1" dirty="0">
                <a:solidFill>
                  <a:srgbClr val="C00000"/>
                </a:solidFill>
                <a:latin typeface="Times New Roman" panose="02020603050405020304" pitchFamily="18" charset="0"/>
                <a:ea typeface="Playfair Display Bold" pitchFamily="34" charset="-122"/>
                <a:cs typeface="Times New Roman" panose="02020603050405020304" pitchFamily="18" charset="0"/>
              </a:rPr>
              <a:t>Research Methodology</a:t>
            </a:r>
            <a:endParaRPr lang="en-US" dirty="0">
              <a:latin typeface="Times New Roman" panose="02020603050405020304" pitchFamily="18" charset="0"/>
              <a:cs typeface="Times New Roman" panose="02020603050405020304" pitchFamily="18" charset="0"/>
            </a:endParaRPr>
          </a:p>
        </p:txBody>
      </p:sp>
      <p:pic>
        <p:nvPicPr>
          <p:cNvPr id="4" name="Image 1" descr="preencoded.png"/>
          <p:cNvPicPr>
            <a:picLocks noChangeAspect="1"/>
          </p:cNvPicPr>
          <p:nvPr/>
        </p:nvPicPr>
        <p:blipFill>
          <a:blip r:embed="rId4"/>
          <a:stretch>
            <a:fillRect/>
          </a:stretch>
        </p:blipFill>
        <p:spPr>
          <a:xfrm>
            <a:off x="428625" y="1056382"/>
            <a:ext cx="200025" cy="200025"/>
          </a:xfrm>
          <a:prstGeom prst="rect">
            <a:avLst/>
          </a:prstGeom>
        </p:spPr>
      </p:pic>
      <p:sp>
        <p:nvSpPr>
          <p:cNvPr id="5" name="Text 1"/>
          <p:cNvSpPr/>
          <p:nvPr/>
        </p:nvSpPr>
        <p:spPr>
          <a:xfrm>
            <a:off x="719972" y="1056382"/>
            <a:ext cx="1344811" cy="184666"/>
          </a:xfrm>
          <a:prstGeom prst="rect">
            <a:avLst/>
          </a:prstGeom>
          <a:noFill/>
          <a:ln/>
        </p:spPr>
        <p:txBody>
          <a:bodyPr wrap="square" lIns="0" tIns="0" rIns="0" bIns="0" rtlCol="0" anchor="t">
            <a:spAutoFit/>
          </a:bodyPr>
          <a:lstStyle/>
          <a:p>
            <a:pPr marL="0" indent="0" algn="l">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Research Design</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6" name="Text 2"/>
          <p:cNvSpPr/>
          <p:nvPr/>
        </p:nvSpPr>
        <p:spPr>
          <a:xfrm>
            <a:off x="428625" y="1359098"/>
            <a:ext cx="4000500" cy="412292"/>
          </a:xfrm>
          <a:prstGeom prst="rect">
            <a:avLst/>
          </a:prstGeom>
          <a:noFill/>
          <a:ln/>
        </p:spPr>
        <p:txBody>
          <a:bodyPr wrap="square" lIns="0" tIns="0" rIns="0" bIns="0" rtlCol="0" anchor="t">
            <a:spAutoFit/>
          </a:bodyPr>
          <a:lstStyle/>
          <a:p>
            <a:pPr marL="0" indent="0" algn="l">
              <a:lnSpc>
                <a:spcPct val="128000"/>
              </a:lnSpc>
              <a:buNone/>
            </a:pPr>
            <a:r>
              <a:rPr lang="en-US" sz="1100" dirty="0">
                <a:latin typeface="Times New Roman" panose="02020603050405020304" pitchFamily="18" charset="0"/>
                <a:ea typeface="Montserrat" pitchFamily="34" charset="-122"/>
                <a:cs typeface="Times New Roman" panose="02020603050405020304" pitchFamily="18" charset="0"/>
              </a:rPr>
              <a:t>A combination of </a:t>
            </a:r>
            <a:r>
              <a:rPr lang="en-US" sz="1100" b="1" dirty="0">
                <a:latin typeface="Times New Roman" panose="02020603050405020304" pitchFamily="18" charset="0"/>
                <a:ea typeface="Montserrat Medium" pitchFamily="34" charset="-122"/>
                <a:cs typeface="Times New Roman" panose="02020603050405020304" pitchFamily="18" charset="0"/>
              </a:rPr>
              <a:t>Descriptive</a:t>
            </a:r>
            <a:r>
              <a:rPr lang="en-US" sz="1100" dirty="0">
                <a:latin typeface="Times New Roman" panose="02020603050405020304" pitchFamily="18" charset="0"/>
                <a:ea typeface="Montserrat" pitchFamily="34" charset="-122"/>
                <a:cs typeface="Times New Roman" panose="02020603050405020304" pitchFamily="18" charset="0"/>
              </a:rPr>
              <a:t> and </a:t>
            </a:r>
            <a:r>
              <a:rPr lang="en-US" sz="1100" b="1" dirty="0">
                <a:latin typeface="Times New Roman" panose="02020603050405020304" pitchFamily="18" charset="0"/>
                <a:ea typeface="Montserrat Medium" pitchFamily="34" charset="-122"/>
                <a:cs typeface="Times New Roman" panose="02020603050405020304" pitchFamily="18" charset="0"/>
              </a:rPr>
              <a:t>Analytical</a:t>
            </a:r>
            <a:r>
              <a:rPr lang="en-US" sz="1100" dirty="0">
                <a:latin typeface="Times New Roman" panose="02020603050405020304" pitchFamily="18" charset="0"/>
                <a:ea typeface="Montserrat" pitchFamily="34" charset="-122"/>
                <a:cs typeface="Times New Roman" panose="02020603050405020304" pitchFamily="18" charset="0"/>
              </a:rPr>
              <a:t> research designs to understand current patterns and identify optimization opportunities.</a:t>
            </a:r>
            <a:endParaRPr lang="en-US" sz="1100" dirty="0">
              <a:latin typeface="Times New Roman" panose="02020603050405020304" pitchFamily="18" charset="0"/>
              <a:cs typeface="Times New Roman" panose="02020603050405020304" pitchFamily="18" charset="0"/>
            </a:endParaRPr>
          </a:p>
        </p:txBody>
      </p:sp>
      <p:pic>
        <p:nvPicPr>
          <p:cNvPr id="7" name="Image 2" descr="preencoded.png"/>
          <p:cNvPicPr>
            <a:picLocks noChangeAspect="1"/>
          </p:cNvPicPr>
          <p:nvPr/>
        </p:nvPicPr>
        <p:blipFill>
          <a:blip r:embed="rId5"/>
          <a:stretch>
            <a:fillRect/>
          </a:stretch>
        </p:blipFill>
        <p:spPr>
          <a:xfrm>
            <a:off x="4714875" y="1051917"/>
            <a:ext cx="175022" cy="200025"/>
          </a:xfrm>
          <a:prstGeom prst="rect">
            <a:avLst/>
          </a:prstGeom>
        </p:spPr>
      </p:pic>
      <p:sp>
        <p:nvSpPr>
          <p:cNvPr id="8" name="Text 3"/>
          <p:cNvSpPr/>
          <p:nvPr/>
        </p:nvSpPr>
        <p:spPr>
          <a:xfrm>
            <a:off x="4997053" y="1059665"/>
            <a:ext cx="974626" cy="184666"/>
          </a:xfrm>
          <a:prstGeom prst="rect">
            <a:avLst/>
          </a:prstGeom>
          <a:noFill/>
          <a:ln/>
        </p:spPr>
        <p:txBody>
          <a:bodyPr wrap="none" lIns="0" tIns="0" rIns="0" bIns="0" rtlCol="0" anchor="t">
            <a:spAutoFit/>
          </a:bodyPr>
          <a:lstStyle/>
          <a:p>
            <a:pPr marL="0" indent="0" algn="l">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Data Collection</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9" name="Text 4"/>
          <p:cNvSpPr/>
          <p:nvPr/>
        </p:nvSpPr>
        <p:spPr>
          <a:xfrm>
            <a:off x="4802386" y="1359098"/>
            <a:ext cx="570669" cy="216662"/>
          </a:xfrm>
          <a:prstGeom prst="rect">
            <a:avLst/>
          </a:prstGeom>
          <a:noFill/>
          <a:ln/>
        </p:spPr>
        <p:txBody>
          <a:bodyPr wrap="none" lIns="0" tIns="0" rIns="0" bIns="0" rtlCol="0" anchor="t">
            <a:spAutoFit/>
          </a:bodyPr>
          <a:lstStyle/>
          <a:p>
            <a:pPr marL="0" indent="0" algn="l">
              <a:lnSpc>
                <a:spcPct val="128000"/>
              </a:lnSpc>
              <a:buNone/>
            </a:pPr>
            <a:r>
              <a:rPr lang="en-US" sz="1100" b="1" dirty="0">
                <a:solidFill>
                  <a:srgbClr val="444444"/>
                </a:solidFill>
                <a:latin typeface="Times New Roman" panose="02020603050405020304" pitchFamily="18" charset="0"/>
                <a:ea typeface="Montserrat Medium" pitchFamily="34" charset="-122"/>
                <a:cs typeface="Times New Roman" panose="02020603050405020304" pitchFamily="18" charset="0"/>
              </a:rPr>
              <a:t>Primary:</a:t>
            </a:r>
            <a:endParaRPr lang="en-US" sz="1100" dirty="0">
              <a:latin typeface="Times New Roman" panose="02020603050405020304" pitchFamily="18" charset="0"/>
              <a:cs typeface="Times New Roman" panose="02020603050405020304" pitchFamily="18" charset="0"/>
            </a:endParaRPr>
          </a:p>
        </p:txBody>
      </p:sp>
      <p:sp>
        <p:nvSpPr>
          <p:cNvPr id="10" name="Text 5"/>
          <p:cNvSpPr/>
          <p:nvPr/>
        </p:nvSpPr>
        <p:spPr>
          <a:xfrm>
            <a:off x="5496027" y="1361797"/>
            <a:ext cx="3345647" cy="412292"/>
          </a:xfrm>
          <a:prstGeom prst="rect">
            <a:avLst/>
          </a:prstGeom>
          <a:noFill/>
          <a:ln/>
        </p:spPr>
        <p:txBody>
          <a:bodyPr wrap="square" lIns="0" tIns="0" rIns="0" bIns="0" rtlCol="0" anchor="t">
            <a:spAutoFit/>
          </a:bodyPr>
          <a:lstStyle/>
          <a:p>
            <a:pPr marL="0" indent="0" algn="l">
              <a:lnSpc>
                <a:spcPct val="128000"/>
              </a:lnSpc>
              <a:buNone/>
            </a:pPr>
            <a:r>
              <a:rPr lang="en-US" sz="1100" dirty="0">
                <a:latin typeface="Times New Roman" panose="02020603050405020304" pitchFamily="18" charset="0"/>
                <a:ea typeface="Montserrat" pitchFamily="34" charset="-122"/>
                <a:cs typeface="Times New Roman" panose="02020603050405020304" pitchFamily="18" charset="0"/>
              </a:rPr>
              <a:t>Observation,Patient Feedback,Staff Intereaction,Google Form.</a:t>
            </a:r>
            <a:endParaRPr lang="en-US" sz="1100" dirty="0">
              <a:latin typeface="Times New Roman" panose="02020603050405020304" pitchFamily="18" charset="0"/>
              <a:cs typeface="Times New Roman" panose="02020603050405020304" pitchFamily="18" charset="0"/>
            </a:endParaRPr>
          </a:p>
        </p:txBody>
      </p:sp>
      <p:sp>
        <p:nvSpPr>
          <p:cNvPr id="11" name="Text 6"/>
          <p:cNvSpPr/>
          <p:nvPr/>
        </p:nvSpPr>
        <p:spPr>
          <a:xfrm>
            <a:off x="4778080" y="1827684"/>
            <a:ext cx="681277" cy="216662"/>
          </a:xfrm>
          <a:prstGeom prst="rect">
            <a:avLst/>
          </a:prstGeom>
          <a:noFill/>
          <a:ln/>
        </p:spPr>
        <p:txBody>
          <a:bodyPr wrap="none" lIns="0" tIns="0" rIns="0" bIns="0" rtlCol="0" anchor="t">
            <a:spAutoFit/>
          </a:bodyPr>
          <a:lstStyle/>
          <a:p>
            <a:pPr marL="0" indent="0" algn="l">
              <a:lnSpc>
                <a:spcPct val="128000"/>
              </a:lnSpc>
              <a:buNone/>
            </a:pPr>
            <a:r>
              <a:rPr lang="en-US" sz="1100" b="1" dirty="0">
                <a:solidFill>
                  <a:srgbClr val="444444"/>
                </a:solidFill>
                <a:latin typeface="Times New Roman" panose="02020603050405020304" pitchFamily="18" charset="0"/>
                <a:ea typeface="Montserrat Medium" pitchFamily="34" charset="-122"/>
                <a:cs typeface="Times New Roman" panose="02020603050405020304" pitchFamily="18" charset="0"/>
              </a:rPr>
              <a:t>Secondary:</a:t>
            </a:r>
            <a:endParaRPr lang="en-US" sz="1100" dirty="0">
              <a:latin typeface="Times New Roman" panose="02020603050405020304" pitchFamily="18" charset="0"/>
              <a:cs typeface="Times New Roman" panose="02020603050405020304" pitchFamily="18" charset="0"/>
            </a:endParaRPr>
          </a:p>
        </p:txBody>
      </p:sp>
      <p:sp>
        <p:nvSpPr>
          <p:cNvPr id="12" name="Text 7"/>
          <p:cNvSpPr/>
          <p:nvPr/>
        </p:nvSpPr>
        <p:spPr>
          <a:xfrm>
            <a:off x="5496027" y="1827684"/>
            <a:ext cx="3219348" cy="412292"/>
          </a:xfrm>
          <a:prstGeom prst="rect">
            <a:avLst/>
          </a:prstGeom>
          <a:noFill/>
          <a:ln/>
        </p:spPr>
        <p:txBody>
          <a:bodyPr wrap="square" lIns="0" tIns="0" rIns="0" bIns="0" rtlCol="0" anchor="t">
            <a:spAutoFit/>
          </a:bodyPr>
          <a:lstStyle/>
          <a:p>
            <a:pPr marL="0" indent="0" algn="l">
              <a:lnSpc>
                <a:spcPct val="128000"/>
              </a:lnSpc>
              <a:buNone/>
            </a:pPr>
            <a:r>
              <a:rPr lang="en-US" sz="1100" dirty="0">
                <a:latin typeface="Times New Roman" panose="02020603050405020304" pitchFamily="18" charset="0"/>
                <a:ea typeface="Montserrat" pitchFamily="34" charset="-122"/>
                <a:cs typeface="Times New Roman" panose="02020603050405020304" pitchFamily="18" charset="0"/>
              </a:rPr>
              <a:t>Research journals,WebsitesPrevious research papers on waiting time analysis and healthcare analytics.</a:t>
            </a:r>
            <a:endParaRPr lang="en-US" sz="1100" dirty="0">
              <a:latin typeface="Times New Roman" panose="02020603050405020304" pitchFamily="18" charset="0"/>
              <a:cs typeface="Times New Roman" panose="02020603050405020304" pitchFamily="18" charset="0"/>
            </a:endParaRPr>
          </a:p>
        </p:txBody>
      </p:sp>
      <p:pic>
        <p:nvPicPr>
          <p:cNvPr id="13" name="Image 3" descr="preencoded.png"/>
          <p:cNvPicPr>
            <a:picLocks noChangeAspect="1"/>
          </p:cNvPicPr>
          <p:nvPr/>
        </p:nvPicPr>
        <p:blipFill>
          <a:blip r:embed="rId6"/>
          <a:stretch>
            <a:fillRect/>
          </a:stretch>
        </p:blipFill>
        <p:spPr>
          <a:xfrm>
            <a:off x="428625" y="2954834"/>
            <a:ext cx="200025" cy="200025"/>
          </a:xfrm>
          <a:prstGeom prst="rect">
            <a:avLst/>
          </a:prstGeom>
        </p:spPr>
      </p:pic>
      <p:sp>
        <p:nvSpPr>
          <p:cNvPr id="14" name="Text 8"/>
          <p:cNvSpPr/>
          <p:nvPr/>
        </p:nvSpPr>
        <p:spPr>
          <a:xfrm>
            <a:off x="735806" y="2959298"/>
            <a:ext cx="1044645" cy="184666"/>
          </a:xfrm>
          <a:prstGeom prst="rect">
            <a:avLst/>
          </a:prstGeom>
          <a:noFill/>
          <a:ln/>
        </p:spPr>
        <p:txBody>
          <a:bodyPr wrap="none" lIns="0" tIns="0" rIns="0" bIns="0" rtlCol="0" anchor="t">
            <a:spAutoFit/>
          </a:bodyPr>
          <a:lstStyle/>
          <a:p>
            <a:pPr marL="0" indent="0" algn="l">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Analytical Tools</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15" name="Text 9"/>
          <p:cNvSpPr/>
          <p:nvPr/>
        </p:nvSpPr>
        <p:spPr>
          <a:xfrm>
            <a:off x="557213" y="3262015"/>
            <a:ext cx="637995" cy="216662"/>
          </a:xfrm>
          <a:prstGeom prst="rect">
            <a:avLst/>
          </a:prstGeom>
          <a:noFill/>
          <a:ln/>
        </p:spPr>
        <p:txBody>
          <a:bodyPr wrap="none" lIns="0" tIns="0" rIns="0" bIns="0" rtlCol="0" anchor="t">
            <a:spAutoFit/>
          </a:bodyPr>
          <a:lstStyle/>
          <a:p>
            <a:pPr marL="0" indent="0" algn="l">
              <a:lnSpc>
                <a:spcPct val="128000"/>
              </a:lnSpc>
              <a:buNone/>
            </a:pPr>
            <a:r>
              <a:rPr lang="en-US" sz="1100" b="1" dirty="0">
                <a:solidFill>
                  <a:srgbClr val="444444"/>
                </a:solidFill>
                <a:latin typeface="Times New Roman" panose="02020603050405020304" pitchFamily="18" charset="0"/>
                <a:ea typeface="Montserrat Medium" pitchFamily="34" charset="-122"/>
                <a:cs typeface="Times New Roman" panose="02020603050405020304" pitchFamily="18" charset="0"/>
              </a:rPr>
              <a:t>Statistical:</a:t>
            </a:r>
            <a:endParaRPr lang="en-US" sz="1100" dirty="0">
              <a:latin typeface="Times New Roman" panose="02020603050405020304" pitchFamily="18" charset="0"/>
              <a:cs typeface="Times New Roman" panose="02020603050405020304" pitchFamily="18" charset="0"/>
            </a:endParaRPr>
          </a:p>
        </p:txBody>
      </p:sp>
      <p:sp>
        <p:nvSpPr>
          <p:cNvPr id="16" name="Text 10"/>
          <p:cNvSpPr/>
          <p:nvPr/>
        </p:nvSpPr>
        <p:spPr>
          <a:xfrm>
            <a:off x="1223367" y="3262015"/>
            <a:ext cx="1995739" cy="195631"/>
          </a:xfrm>
          <a:prstGeom prst="rect">
            <a:avLst/>
          </a:prstGeom>
          <a:noFill/>
          <a:ln/>
        </p:spPr>
        <p:txBody>
          <a:bodyPr wrap="none" lIns="0" tIns="0" rIns="0" bIns="0" rtlCol="0" anchor="t">
            <a:spAutoFit/>
          </a:bodyPr>
          <a:lstStyle/>
          <a:p>
            <a:pPr marL="0" indent="0" algn="l">
              <a:lnSpc>
                <a:spcPct val="128000"/>
              </a:lnSpc>
              <a:buNone/>
            </a:pPr>
            <a:r>
              <a:rPr lang="en-US" sz="1100" dirty="0">
                <a:latin typeface="Times New Roman" panose="02020603050405020304" pitchFamily="18" charset="0"/>
                <a:ea typeface="Montserrat" pitchFamily="34" charset="-122"/>
                <a:cs typeface="Times New Roman" panose="02020603050405020304" pitchFamily="18" charset="0"/>
              </a:rPr>
              <a:t>Pivot Tables,Comparative Analysis</a:t>
            </a:r>
            <a:endParaRPr lang="en-US" sz="1100" dirty="0">
              <a:latin typeface="Times New Roman" panose="02020603050405020304" pitchFamily="18" charset="0"/>
              <a:cs typeface="Times New Roman" panose="02020603050405020304" pitchFamily="18" charset="0"/>
            </a:endParaRPr>
          </a:p>
        </p:txBody>
      </p:sp>
      <p:sp>
        <p:nvSpPr>
          <p:cNvPr id="17" name="Text 11"/>
          <p:cNvSpPr/>
          <p:nvPr/>
        </p:nvSpPr>
        <p:spPr>
          <a:xfrm>
            <a:off x="557213" y="3524883"/>
            <a:ext cx="835165" cy="216662"/>
          </a:xfrm>
          <a:prstGeom prst="rect">
            <a:avLst/>
          </a:prstGeom>
          <a:noFill/>
          <a:ln/>
        </p:spPr>
        <p:txBody>
          <a:bodyPr wrap="none" lIns="0" tIns="0" rIns="0" bIns="0" rtlCol="0" anchor="t">
            <a:spAutoFit/>
          </a:bodyPr>
          <a:lstStyle/>
          <a:p>
            <a:pPr marL="0" indent="0" algn="l">
              <a:lnSpc>
                <a:spcPct val="128000"/>
              </a:lnSpc>
              <a:buNone/>
            </a:pPr>
            <a:r>
              <a:rPr lang="en-US" sz="1100" b="1" dirty="0">
                <a:solidFill>
                  <a:srgbClr val="444444"/>
                </a:solidFill>
                <a:latin typeface="Times New Roman" panose="02020603050405020304" pitchFamily="18" charset="0"/>
                <a:ea typeface="Montserrat Medium" pitchFamily="34" charset="-122"/>
                <a:cs typeface="Times New Roman" panose="02020603050405020304" pitchFamily="18" charset="0"/>
              </a:rPr>
              <a:t>Visualization:</a:t>
            </a:r>
            <a:endParaRPr lang="en-US" sz="1100" dirty="0">
              <a:latin typeface="Times New Roman" panose="02020603050405020304" pitchFamily="18" charset="0"/>
              <a:cs typeface="Times New Roman" panose="02020603050405020304" pitchFamily="18" charset="0"/>
            </a:endParaRPr>
          </a:p>
        </p:txBody>
      </p:sp>
      <p:sp>
        <p:nvSpPr>
          <p:cNvPr id="18" name="Text 12"/>
          <p:cNvSpPr/>
          <p:nvPr/>
        </p:nvSpPr>
        <p:spPr>
          <a:xfrm>
            <a:off x="1414463" y="3524883"/>
            <a:ext cx="2505494" cy="412292"/>
          </a:xfrm>
          <a:prstGeom prst="rect">
            <a:avLst/>
          </a:prstGeom>
          <a:noFill/>
          <a:ln/>
        </p:spPr>
        <p:txBody>
          <a:bodyPr wrap="none" lIns="0" tIns="0" rIns="0" bIns="0" rtlCol="0" anchor="t">
            <a:spAutoFit/>
          </a:bodyPr>
          <a:lstStyle/>
          <a:p>
            <a:pPr marL="0" indent="0" algn="l">
              <a:lnSpc>
                <a:spcPct val="128000"/>
              </a:lnSpc>
              <a:buNone/>
            </a:pPr>
            <a:r>
              <a:rPr lang="en-US" sz="1100" dirty="0">
                <a:latin typeface="Times New Roman" panose="02020603050405020304" pitchFamily="18" charset="0"/>
                <a:ea typeface="Montserrat" pitchFamily="34" charset="-122"/>
                <a:cs typeface="Times New Roman" panose="02020603050405020304" pitchFamily="18" charset="0"/>
              </a:rPr>
              <a:t>Excel,Bar Charts,Pie </a:t>
            </a:r>
            <a:r>
              <a:rPr lang="en-US" sz="1100" dirty="0" err="1">
                <a:latin typeface="Times New Roman" panose="02020603050405020304" pitchFamily="18" charset="0"/>
                <a:ea typeface="Montserrat" pitchFamily="34" charset="-122"/>
                <a:cs typeface="Times New Roman" panose="02020603050405020304" pitchFamily="18" charset="0"/>
              </a:rPr>
              <a:t>Charts,Column</a:t>
            </a:r>
            <a:r>
              <a:rPr lang="en-US" sz="1100" dirty="0">
                <a:latin typeface="Times New Roman" panose="02020603050405020304" pitchFamily="18" charset="0"/>
                <a:ea typeface="Montserrat" pitchFamily="34" charset="-122"/>
                <a:cs typeface="Times New Roman" panose="02020603050405020304" pitchFamily="18" charset="0"/>
              </a:rPr>
              <a:t> </a:t>
            </a:r>
            <a:r>
              <a:rPr lang="en-US" sz="1100" dirty="0" smtClean="0">
                <a:latin typeface="Times New Roman" panose="02020603050405020304" pitchFamily="18" charset="0"/>
                <a:ea typeface="Montserrat" pitchFamily="34" charset="-122"/>
                <a:cs typeface="Times New Roman" panose="02020603050405020304" pitchFamily="18" charset="0"/>
              </a:rPr>
              <a:t>Charts,</a:t>
            </a:r>
            <a:br>
              <a:rPr lang="en-US" sz="1100" dirty="0" smtClean="0">
                <a:latin typeface="Times New Roman" panose="02020603050405020304" pitchFamily="18" charset="0"/>
                <a:ea typeface="Montserrat" pitchFamily="34" charset="-122"/>
                <a:cs typeface="Times New Roman" panose="02020603050405020304" pitchFamily="18" charset="0"/>
              </a:rPr>
            </a:br>
            <a:r>
              <a:rPr lang="en-US" sz="1100" dirty="0" err="1" smtClean="0">
                <a:latin typeface="Times New Roman" panose="02020603050405020304" pitchFamily="18" charset="0"/>
                <a:ea typeface="Montserrat" pitchFamily="34" charset="-122"/>
                <a:cs typeface="Times New Roman" panose="02020603050405020304" pitchFamily="18" charset="0"/>
              </a:rPr>
              <a:t>PowerBi</a:t>
            </a:r>
            <a:r>
              <a:rPr lang="en-US" sz="1100" dirty="0" err="1" smtClean="0">
                <a:latin typeface="Times New Roman" panose="02020603050405020304" pitchFamily="18" charset="0"/>
                <a:ea typeface="Montserrat" pitchFamily="34" charset="-122"/>
                <a:cs typeface="Times New Roman" panose="02020603050405020304" pitchFamily="18" charset="0"/>
              </a:rPr>
              <a:t>,Donut</a:t>
            </a:r>
            <a:r>
              <a:rPr lang="en-US" sz="1100" dirty="0" smtClean="0">
                <a:latin typeface="Times New Roman" panose="02020603050405020304" pitchFamily="18" charset="0"/>
                <a:ea typeface="Montserrat" pitchFamily="34" charset="-122"/>
                <a:cs typeface="Times New Roman" panose="02020603050405020304" pitchFamily="18" charset="0"/>
              </a:rPr>
              <a:t> Charts.</a:t>
            </a:r>
            <a:endParaRPr lang="en-US" sz="1100" dirty="0">
              <a:latin typeface="Times New Roman" panose="02020603050405020304" pitchFamily="18" charset="0"/>
              <a:cs typeface="Times New Roman" panose="02020603050405020304" pitchFamily="18" charset="0"/>
            </a:endParaRPr>
          </a:p>
        </p:txBody>
      </p:sp>
      <p:pic>
        <p:nvPicPr>
          <p:cNvPr id="19" name="Image 4" descr="preencoded.png"/>
          <p:cNvPicPr>
            <a:picLocks noChangeAspect="1"/>
          </p:cNvPicPr>
          <p:nvPr/>
        </p:nvPicPr>
        <p:blipFill>
          <a:blip r:embed="rId7"/>
          <a:stretch>
            <a:fillRect/>
          </a:stretch>
        </p:blipFill>
        <p:spPr>
          <a:xfrm>
            <a:off x="4714875" y="2954834"/>
            <a:ext cx="250031" cy="200025"/>
          </a:xfrm>
          <a:prstGeom prst="rect">
            <a:avLst/>
          </a:prstGeom>
        </p:spPr>
      </p:pic>
      <p:sp>
        <p:nvSpPr>
          <p:cNvPr id="20" name="Text 13"/>
          <p:cNvSpPr/>
          <p:nvPr/>
        </p:nvSpPr>
        <p:spPr>
          <a:xfrm>
            <a:off x="5072063" y="2959298"/>
            <a:ext cx="1651992" cy="184666"/>
          </a:xfrm>
          <a:prstGeom prst="rect">
            <a:avLst/>
          </a:prstGeom>
          <a:noFill/>
          <a:ln/>
        </p:spPr>
        <p:txBody>
          <a:bodyPr wrap="square" lIns="0" tIns="0" rIns="0" bIns="0" rtlCol="0" anchor="t">
            <a:spAutoFit/>
          </a:bodyPr>
          <a:lstStyle/>
          <a:p>
            <a:pPr marL="0" indent="0" algn="l">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Sampling Technique</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21" name="Text 14"/>
          <p:cNvSpPr/>
          <p:nvPr/>
        </p:nvSpPr>
        <p:spPr>
          <a:xfrm>
            <a:off x="4714875" y="3262015"/>
            <a:ext cx="4000500" cy="649986"/>
          </a:xfrm>
          <a:prstGeom prst="rect">
            <a:avLst/>
          </a:prstGeom>
          <a:noFill/>
          <a:ln/>
        </p:spPr>
        <p:txBody>
          <a:bodyPr wrap="square" lIns="0" tIns="0" rIns="0" bIns="0" rtlCol="0" anchor="t">
            <a:spAutoFit/>
          </a:bodyPr>
          <a:lstStyle/>
          <a:p>
            <a:pPr marL="0" indent="0" algn="just">
              <a:lnSpc>
                <a:spcPct val="128000"/>
              </a:lnSpc>
              <a:buNone/>
            </a:pPr>
            <a:r>
              <a:rPr lang="en-US" sz="1100" b="1" dirty="0">
                <a:latin typeface="Times New Roman" panose="02020603050405020304" pitchFamily="18" charset="0"/>
                <a:ea typeface="Montserrat Medium" pitchFamily="34" charset="-122"/>
                <a:cs typeface="Times New Roman" panose="02020603050405020304" pitchFamily="18" charset="0"/>
              </a:rPr>
              <a:t>Convenience sampling technique </a:t>
            </a:r>
            <a:r>
              <a:rPr lang="en-US" sz="1100" dirty="0">
                <a:latin typeface="Times New Roman" panose="02020603050405020304" pitchFamily="18" charset="0"/>
                <a:ea typeface="Montserrat" pitchFamily="34" charset="-122"/>
                <a:cs typeface="Times New Roman" panose="02020603050405020304" pitchFamily="18" charset="0"/>
              </a:rPr>
              <a:t>was used for the study. The respondents were selected based on their availability and willingness to participate during the hospital visit.</a:t>
            </a:r>
            <a:endParaRPr lang="en-US" sz="1100" dirty="0">
              <a:latin typeface="Times New Roman" panose="02020603050405020304" pitchFamily="18" charset="0"/>
              <a:cs typeface="Times New Roman" panose="02020603050405020304" pitchFamily="18" charset="0"/>
            </a:endParaRPr>
          </a:p>
        </p:txBody>
      </p:sp>
      <p:sp>
        <p:nvSpPr>
          <p:cNvPr id="22" name="Shape 15"/>
          <p:cNvSpPr/>
          <p:nvPr/>
        </p:nvSpPr>
        <p:spPr>
          <a:xfrm>
            <a:off x="0" y="4572000"/>
            <a:ext cx="9144000" cy="571500"/>
          </a:xfrm>
          <a:prstGeom prst="rect">
            <a:avLst/>
          </a:prstGeom>
          <a:solidFill>
            <a:srgbClr val="C00000"/>
          </a:solidFill>
          <a:ln/>
        </p:spPr>
      </p:sp>
      <p:sp>
        <p:nvSpPr>
          <p:cNvPr id="23" name="Text 16"/>
          <p:cNvSpPr/>
          <p:nvPr/>
        </p:nvSpPr>
        <p:spPr>
          <a:xfrm>
            <a:off x="222202" y="4750027"/>
            <a:ext cx="5029611" cy="215444"/>
          </a:xfrm>
          <a:prstGeom prst="rect">
            <a:avLst/>
          </a:prstGeom>
          <a:noFill/>
          <a:ln/>
        </p:spPr>
        <p:txBody>
          <a:bodyPr wrap="square" lIns="0" tIns="0" rIns="0" bIns="0" rtlCol="0" anchor="t">
            <a:spAutoFit/>
          </a:bodyPr>
          <a:lstStyle/>
          <a:p>
            <a:pPr marL="0" indent="0" algn="l">
              <a:buNone/>
            </a:pPr>
            <a:r>
              <a:rPr lang="en-US" sz="1400" b="1" dirty="0">
                <a:solidFill>
                  <a:srgbClr val="FFFFFF"/>
                </a:solidFill>
                <a:latin typeface="Times New Roman" panose="02020603050405020304" pitchFamily="18" charset="0"/>
                <a:ea typeface="Microsoft YaHei Light" panose="020B0502040204020203" pitchFamily="34" charset="-122"/>
                <a:cs typeface="Times New Roman" panose="02020603050405020304" pitchFamily="18" charset="0"/>
              </a:rPr>
              <a:t>Dr. Moonje Institute of Management &amp; Computer Studies, Nashik</a:t>
            </a:r>
            <a:endParaRPr lang="en-US" sz="1400" b="1"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pic>
        <p:nvPicPr>
          <p:cNvPr id="24" name="Picture 2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096300" y="4407743"/>
            <a:ext cx="1271447" cy="90001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017598"/>
            <a:ext cx="7334935" cy="4125901"/>
          </a:xfrm>
          <a:prstGeom prst="rect">
            <a:avLst/>
          </a:prstGeom>
        </p:spPr>
      </p:pic>
      <p:sp>
        <p:nvSpPr>
          <p:cNvPr id="3" name="Text 0"/>
          <p:cNvSpPr/>
          <p:nvPr/>
        </p:nvSpPr>
        <p:spPr>
          <a:xfrm>
            <a:off x="428625" y="285750"/>
            <a:ext cx="4275534" cy="362920"/>
          </a:xfrm>
          <a:prstGeom prst="rect">
            <a:avLst/>
          </a:prstGeom>
          <a:noFill/>
          <a:ln/>
        </p:spPr>
        <p:txBody>
          <a:bodyPr wrap="square" lIns="0" tIns="0" rIns="0" bIns="85090" rtlCol="0" anchor="t">
            <a:spAutoFit/>
          </a:bodyPr>
          <a:lstStyle/>
          <a:p>
            <a:pPr marL="0" indent="0" algn="l">
              <a:buNone/>
            </a:pPr>
            <a:r>
              <a:rPr lang="en-US" b="1" dirty="0">
                <a:solidFill>
                  <a:srgbClr val="C00000"/>
                </a:solidFill>
                <a:latin typeface="Times New Roman" panose="02020603050405020304" pitchFamily="18" charset="0"/>
                <a:ea typeface="Playfair Display Bold" pitchFamily="34" charset="-122"/>
                <a:cs typeface="Times New Roman" panose="02020603050405020304" pitchFamily="18" charset="0"/>
              </a:rPr>
              <a:t>Data Analysis and Interpretation</a:t>
            </a:r>
            <a:endParaRPr lang="en-US" dirty="0">
              <a:latin typeface="Times New Roman" panose="02020603050405020304" pitchFamily="18" charset="0"/>
              <a:cs typeface="Times New Roman" panose="02020603050405020304" pitchFamily="18" charset="0"/>
            </a:endParaRPr>
          </a:p>
        </p:txBody>
      </p:sp>
      <p:pic>
        <p:nvPicPr>
          <p:cNvPr id="5" name="Image 2" descr="preencoded.png"/>
          <p:cNvPicPr>
            <a:picLocks noChangeAspect="1"/>
          </p:cNvPicPr>
          <p:nvPr/>
        </p:nvPicPr>
        <p:blipFill>
          <a:blip r:embed="rId4"/>
          <a:stretch>
            <a:fillRect/>
          </a:stretch>
        </p:blipFill>
        <p:spPr>
          <a:xfrm>
            <a:off x="5514975" y="890714"/>
            <a:ext cx="128588" cy="128588"/>
          </a:xfrm>
          <a:prstGeom prst="rect">
            <a:avLst/>
          </a:prstGeom>
        </p:spPr>
      </p:pic>
      <p:sp>
        <p:nvSpPr>
          <p:cNvPr id="6" name="Text 1"/>
          <p:cNvSpPr/>
          <p:nvPr/>
        </p:nvSpPr>
        <p:spPr>
          <a:xfrm>
            <a:off x="5750719" y="1670605"/>
            <a:ext cx="2964656" cy="153888"/>
          </a:xfrm>
          <a:prstGeom prst="rect">
            <a:avLst/>
          </a:prstGeom>
          <a:noFill/>
          <a:ln/>
        </p:spPr>
        <p:txBody>
          <a:bodyPr wrap="square" lIns="0" tIns="0" rIns="0" bIns="0" rtlCol="0" anchor="t">
            <a:spAutoFit/>
          </a:bodyPr>
          <a:lstStyle/>
          <a:p>
            <a:pPr marL="0" indent="0" algn="l">
              <a:buNone/>
            </a:pPr>
            <a:endParaRPr lang="en-US" sz="1000" dirty="0"/>
          </a:p>
        </p:txBody>
      </p:sp>
      <p:sp>
        <p:nvSpPr>
          <p:cNvPr id="7" name="Text 2"/>
          <p:cNvSpPr/>
          <p:nvPr/>
        </p:nvSpPr>
        <p:spPr>
          <a:xfrm>
            <a:off x="5741551" y="869378"/>
            <a:ext cx="2964656" cy="904928"/>
          </a:xfrm>
          <a:prstGeom prst="rect">
            <a:avLst/>
          </a:prstGeom>
          <a:noFill/>
          <a:ln/>
        </p:spPr>
        <p:txBody>
          <a:bodyPr wrap="square" lIns="0" tIns="0" rIns="0" bIns="0" rtlCol="0" anchor="t">
            <a:spAutoFit/>
          </a:bodyPr>
          <a:lstStyle/>
          <a:p>
            <a:pPr algn="just">
              <a:lnSpc>
                <a:spcPct val="112000"/>
              </a:lnSpc>
            </a:pPr>
            <a:r>
              <a:rPr lang="en-US" sz="1100" dirty="0">
                <a:latin typeface="Times New Roman" panose="02020603050405020304" pitchFamily="18" charset="0"/>
                <a:cs typeface="Times New Roman" panose="02020603050405020304" pitchFamily="18" charset="0"/>
              </a:rPr>
              <a:t>The dashboard was created using </a:t>
            </a:r>
            <a:r>
              <a:rPr lang="en-US" sz="1100" dirty="0" smtClean="0">
                <a:latin typeface="Times New Roman" panose="02020603050405020304" pitchFamily="18" charset="0"/>
                <a:cs typeface="Times New Roman" panose="02020603050405020304" pitchFamily="18" charset="0"/>
              </a:rPr>
              <a:t>Power BI</a:t>
            </a:r>
            <a:r>
              <a:rPr lang="en-US" sz="1100" dirty="0" smtClean="0">
                <a:latin typeface="Times New Roman" panose="02020603050405020304" pitchFamily="18" charset="0"/>
                <a:cs typeface="Times New Roman" panose="02020603050405020304" pitchFamily="18" charset="0"/>
              </a:rPr>
              <a:t>, </a:t>
            </a:r>
            <a:r>
              <a:rPr lang="en-US" sz="1100" dirty="0">
                <a:latin typeface="Times New Roman" panose="02020603050405020304" pitchFamily="18" charset="0"/>
                <a:cs typeface="Times New Roman" panose="02020603050405020304" pitchFamily="18" charset="0"/>
              </a:rPr>
              <a:t>Pivot Tables, Pivot Charts, and Slicers to analyze patient waiting time and hospital operational efficiency dynamically.</a:t>
            </a:r>
          </a:p>
          <a:p>
            <a:pPr>
              <a:lnSpc>
                <a:spcPct val="112000"/>
              </a:lnSpc>
            </a:pPr>
            <a:endParaRPr lang="en-US" sz="850" dirty="0">
              <a:latin typeface="Palatino Linotype" panose="02040502050505030304" pitchFamily="18" charset="0"/>
            </a:endParaRPr>
          </a:p>
        </p:txBody>
      </p:sp>
      <p:pic>
        <p:nvPicPr>
          <p:cNvPr id="8" name="Image 3" descr="preencoded.png"/>
          <p:cNvPicPr>
            <a:picLocks noChangeAspect="1"/>
          </p:cNvPicPr>
          <p:nvPr/>
        </p:nvPicPr>
        <p:blipFill>
          <a:blip r:embed="rId5"/>
          <a:stretch>
            <a:fillRect/>
          </a:stretch>
        </p:blipFill>
        <p:spPr>
          <a:xfrm>
            <a:off x="5498902" y="1805935"/>
            <a:ext cx="144661" cy="128588"/>
          </a:xfrm>
          <a:prstGeom prst="rect">
            <a:avLst/>
          </a:prstGeom>
        </p:spPr>
      </p:pic>
      <p:sp>
        <p:nvSpPr>
          <p:cNvPr id="9" name="Text 3"/>
          <p:cNvSpPr/>
          <p:nvPr/>
        </p:nvSpPr>
        <p:spPr>
          <a:xfrm>
            <a:off x="5766792" y="2378171"/>
            <a:ext cx="2948583" cy="153888"/>
          </a:xfrm>
          <a:prstGeom prst="rect">
            <a:avLst/>
          </a:prstGeom>
          <a:noFill/>
          <a:ln/>
        </p:spPr>
        <p:txBody>
          <a:bodyPr wrap="square" lIns="0" tIns="0" rIns="0" bIns="0" rtlCol="0" anchor="t">
            <a:spAutoFit/>
          </a:bodyPr>
          <a:lstStyle/>
          <a:p>
            <a:pPr marL="0" indent="0" algn="l">
              <a:buNone/>
            </a:pPr>
            <a:endParaRPr lang="en-US" sz="1000" dirty="0"/>
          </a:p>
        </p:txBody>
      </p:sp>
      <p:sp>
        <p:nvSpPr>
          <p:cNvPr id="10" name="Text 4"/>
          <p:cNvSpPr/>
          <p:nvPr/>
        </p:nvSpPr>
        <p:spPr>
          <a:xfrm>
            <a:off x="5741551" y="1618590"/>
            <a:ext cx="2948583" cy="1241045"/>
          </a:xfrm>
          <a:prstGeom prst="rect">
            <a:avLst/>
          </a:prstGeom>
          <a:noFill/>
          <a:ln/>
        </p:spPr>
        <p:txBody>
          <a:bodyPr wrap="square" lIns="0" tIns="0" rIns="0" bIns="0" rtlCol="0" anchor="t">
            <a:spAutoFit/>
          </a:bodyPr>
          <a:lstStyle/>
          <a:p>
            <a:pPr>
              <a:lnSpc>
                <a:spcPct val="112000"/>
              </a:lnSpc>
            </a:pPr>
            <a:endParaRPr lang="en-US" sz="850" dirty="0">
              <a:latin typeface="Palatino Linotype" panose="02040502050505030304" pitchFamily="18" charset="0"/>
            </a:endParaRPr>
          </a:p>
          <a:p>
            <a:pPr algn="just">
              <a:lnSpc>
                <a:spcPct val="112000"/>
              </a:lnSpc>
            </a:pPr>
            <a:r>
              <a:rPr lang="en-US" sz="1100" dirty="0">
                <a:latin typeface="Times New Roman" panose="02020603050405020304" pitchFamily="18" charset="0"/>
                <a:cs typeface="Times New Roman" panose="02020603050405020304" pitchFamily="18" charset="0"/>
              </a:rPr>
              <a:t>The dashboard provides visual insights regarding patient demographics, waiting time satisfaction, crowd management issues, digital queue system support, registration delays, appointment system effectiveness, and staff availability impact.</a:t>
            </a:r>
          </a:p>
          <a:p>
            <a:pPr>
              <a:lnSpc>
                <a:spcPct val="112000"/>
              </a:lnSpc>
            </a:pPr>
            <a:endParaRPr lang="en-US" sz="850" dirty="0">
              <a:latin typeface="Palatino Linotype" panose="02040502050505030304" pitchFamily="18" charset="0"/>
            </a:endParaRPr>
          </a:p>
        </p:txBody>
      </p:sp>
      <p:pic>
        <p:nvPicPr>
          <p:cNvPr id="11" name="Image 4" descr="preencoded.png"/>
          <p:cNvPicPr>
            <a:picLocks noChangeAspect="1"/>
          </p:cNvPicPr>
          <p:nvPr/>
        </p:nvPicPr>
        <p:blipFill>
          <a:blip r:embed="rId6"/>
          <a:stretch>
            <a:fillRect/>
          </a:stretch>
        </p:blipFill>
        <p:spPr>
          <a:xfrm>
            <a:off x="5527595" y="2873995"/>
            <a:ext cx="128588" cy="128588"/>
          </a:xfrm>
          <a:prstGeom prst="rect">
            <a:avLst/>
          </a:prstGeom>
        </p:spPr>
      </p:pic>
      <p:sp>
        <p:nvSpPr>
          <p:cNvPr id="12" name="Text 5"/>
          <p:cNvSpPr/>
          <p:nvPr/>
        </p:nvSpPr>
        <p:spPr>
          <a:xfrm>
            <a:off x="5750719" y="3085737"/>
            <a:ext cx="2964656" cy="153888"/>
          </a:xfrm>
          <a:prstGeom prst="rect">
            <a:avLst/>
          </a:prstGeom>
          <a:noFill/>
          <a:ln/>
        </p:spPr>
        <p:txBody>
          <a:bodyPr wrap="square" lIns="0" tIns="0" rIns="0" bIns="0" rtlCol="0" anchor="t">
            <a:spAutoFit/>
          </a:bodyPr>
          <a:lstStyle/>
          <a:p>
            <a:pPr marL="0" indent="0" algn="l">
              <a:buNone/>
            </a:pPr>
            <a:endParaRPr lang="en-US" sz="1000" dirty="0"/>
          </a:p>
        </p:txBody>
      </p:sp>
      <p:sp>
        <p:nvSpPr>
          <p:cNvPr id="13" name="Text 6"/>
          <p:cNvSpPr/>
          <p:nvPr/>
        </p:nvSpPr>
        <p:spPr>
          <a:xfrm>
            <a:off x="5766792" y="2828656"/>
            <a:ext cx="2964656" cy="1284134"/>
          </a:xfrm>
          <a:prstGeom prst="rect">
            <a:avLst/>
          </a:prstGeom>
          <a:noFill/>
          <a:ln/>
        </p:spPr>
        <p:txBody>
          <a:bodyPr wrap="square" lIns="0" tIns="0" rIns="0" bIns="0" rtlCol="0" anchor="t">
            <a:spAutoFit/>
          </a:bodyPr>
          <a:lstStyle/>
          <a:p>
            <a:pPr algn="just">
              <a:lnSpc>
                <a:spcPct val="112000"/>
              </a:lnSpc>
            </a:pPr>
            <a:r>
              <a:rPr lang="en-US" sz="1100" dirty="0">
                <a:latin typeface="Times New Roman" panose="02020603050405020304" pitchFamily="18" charset="0"/>
                <a:cs typeface="Times New Roman" panose="02020603050405020304" pitchFamily="18" charset="0"/>
              </a:rPr>
              <a:t>Interactive slicers were used to filter data dynamically based on age group, gender, and patient responses. The dashboard helps in identifying operational bottlenecks and supports data-driven decision-making for improving hospital service efficiency.</a:t>
            </a:r>
          </a:p>
          <a:p>
            <a:pPr marL="0" indent="0" algn="l">
              <a:lnSpc>
                <a:spcPct val="112000"/>
              </a:lnSpc>
              <a:buNone/>
            </a:pPr>
            <a:endParaRPr lang="en-US" sz="850" dirty="0">
              <a:latin typeface="Palatino Linotype" panose="02040502050505030304" pitchFamily="18" charset="0"/>
            </a:endParaRPr>
          </a:p>
        </p:txBody>
      </p:sp>
      <p:sp>
        <p:nvSpPr>
          <p:cNvPr id="14" name="Shape 7"/>
          <p:cNvSpPr/>
          <p:nvPr/>
        </p:nvSpPr>
        <p:spPr>
          <a:xfrm>
            <a:off x="0" y="4572000"/>
            <a:ext cx="9144000" cy="571500"/>
          </a:xfrm>
          <a:prstGeom prst="rect">
            <a:avLst/>
          </a:prstGeom>
          <a:solidFill>
            <a:srgbClr val="C00000"/>
          </a:solidFill>
          <a:ln/>
        </p:spPr>
      </p:sp>
      <p:sp>
        <p:nvSpPr>
          <p:cNvPr id="15" name="Text 8"/>
          <p:cNvSpPr/>
          <p:nvPr/>
        </p:nvSpPr>
        <p:spPr>
          <a:xfrm>
            <a:off x="228269" y="4749554"/>
            <a:ext cx="5299326" cy="215444"/>
          </a:xfrm>
          <a:prstGeom prst="rect">
            <a:avLst/>
          </a:prstGeom>
          <a:noFill/>
          <a:ln/>
        </p:spPr>
        <p:txBody>
          <a:bodyPr wrap="square" lIns="0" tIns="0" rIns="0" bIns="0" rtlCol="0" anchor="t">
            <a:spAutoFit/>
          </a:bodyPr>
          <a:lstStyle/>
          <a:p>
            <a:pPr marL="0" indent="0" algn="l">
              <a:buNone/>
            </a:pPr>
            <a:r>
              <a:rPr lang="en-US" sz="1400" b="1" dirty="0">
                <a:solidFill>
                  <a:srgbClr val="FFFFFF"/>
                </a:solidFill>
                <a:latin typeface="Times New Roman" panose="02020603050405020304" pitchFamily="18" charset="0"/>
                <a:ea typeface="Microsoft YaHei Light" panose="020B0502040204020203" pitchFamily="34" charset="-122"/>
                <a:cs typeface="Times New Roman" panose="02020603050405020304" pitchFamily="18" charset="0"/>
              </a:rPr>
              <a:t>Dr. Moonje Institute of Management &amp; Computer Studies, Nashik</a:t>
            </a:r>
            <a:endParaRPr lang="en-US" sz="1400" b="1"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pic>
        <p:nvPicPr>
          <p:cNvPr id="16" name="Picture 1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96300" y="4407743"/>
            <a:ext cx="1271447" cy="900013"/>
          </a:xfrm>
          <a:prstGeom prst="rect">
            <a:avLst/>
          </a:prstGeom>
        </p:spPr>
      </p:pic>
      <p:pic>
        <p:nvPicPr>
          <p:cNvPr id="4" name="Picture 3"/>
          <p:cNvPicPr>
            <a:picLocks noChangeAspect="1"/>
          </p:cNvPicPr>
          <p:nvPr/>
        </p:nvPicPr>
        <p:blipFill rotWithShape="1">
          <a:blip r:embed="rId8"/>
          <a:srcRect b="1563"/>
          <a:stretch/>
        </p:blipFill>
        <p:spPr>
          <a:xfrm>
            <a:off x="72358" y="576087"/>
            <a:ext cx="5344628" cy="3988156"/>
          </a:xfrm>
          <a:prstGeom prst="rect">
            <a:avLst/>
          </a:prstGeom>
        </p:spPr>
      </p:pic>
    </p:spTree>
    <p:extLst>
      <p:ext uri="{BB962C8B-B14F-4D97-AF65-F5344CB8AC3E}">
        <p14:creationId xmlns:p14="http://schemas.microsoft.com/office/powerpoint/2010/main" val="3423181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9206" y="2220"/>
            <a:ext cx="9144000" cy="5143500"/>
          </a:xfrm>
          <a:prstGeom prst="rect">
            <a:avLst/>
          </a:prstGeom>
        </p:spPr>
      </p:pic>
      <p:sp>
        <p:nvSpPr>
          <p:cNvPr id="3" name="Text 0"/>
          <p:cNvSpPr/>
          <p:nvPr/>
        </p:nvSpPr>
        <p:spPr>
          <a:xfrm>
            <a:off x="428625" y="544379"/>
            <a:ext cx="4275534" cy="362920"/>
          </a:xfrm>
          <a:prstGeom prst="rect">
            <a:avLst/>
          </a:prstGeom>
          <a:noFill/>
          <a:ln/>
        </p:spPr>
        <p:txBody>
          <a:bodyPr wrap="square" lIns="0" tIns="0" rIns="0" bIns="85090" rtlCol="0" anchor="t">
            <a:spAutoFit/>
          </a:bodyPr>
          <a:lstStyle/>
          <a:p>
            <a:pPr marL="0" indent="0" algn="l">
              <a:buNone/>
            </a:pPr>
            <a:r>
              <a:rPr lang="en-US" b="1" dirty="0">
                <a:solidFill>
                  <a:srgbClr val="C00000"/>
                </a:solidFill>
                <a:latin typeface="Times New Roman" panose="02020603050405020304" pitchFamily="18" charset="0"/>
                <a:ea typeface="Playfair Display Bold" pitchFamily="34" charset="-122"/>
                <a:cs typeface="Times New Roman" panose="02020603050405020304" pitchFamily="18" charset="0"/>
              </a:rPr>
              <a:t>Data Analysis and Interpretation</a:t>
            </a:r>
            <a:endParaRPr lang="en-US" dirty="0">
              <a:latin typeface="Times New Roman" panose="02020603050405020304" pitchFamily="18" charset="0"/>
              <a:cs typeface="Times New Roman" panose="02020603050405020304" pitchFamily="18" charset="0"/>
            </a:endParaRPr>
          </a:p>
        </p:txBody>
      </p:sp>
      <p:pic>
        <p:nvPicPr>
          <p:cNvPr id="4" name="Image 1" descr="preencoded.png"/>
          <p:cNvPicPr>
            <a:picLocks noChangeAspect="1"/>
          </p:cNvPicPr>
          <p:nvPr/>
        </p:nvPicPr>
        <p:blipFill>
          <a:blip r:embed="rId4"/>
          <a:stretch>
            <a:fillRect/>
          </a:stretch>
        </p:blipFill>
        <p:spPr>
          <a:xfrm>
            <a:off x="428625" y="1454646"/>
            <a:ext cx="4800600" cy="2714625"/>
          </a:xfrm>
          <a:prstGeom prst="rect">
            <a:avLst/>
          </a:prstGeom>
        </p:spPr>
      </p:pic>
      <p:pic>
        <p:nvPicPr>
          <p:cNvPr id="5" name="Image 2" descr="preencoded.png"/>
          <p:cNvPicPr>
            <a:picLocks noChangeAspect="1"/>
          </p:cNvPicPr>
          <p:nvPr/>
        </p:nvPicPr>
        <p:blipFill>
          <a:blip r:embed="rId5"/>
          <a:stretch>
            <a:fillRect/>
          </a:stretch>
        </p:blipFill>
        <p:spPr>
          <a:xfrm>
            <a:off x="5514975" y="1706324"/>
            <a:ext cx="128588" cy="128588"/>
          </a:xfrm>
          <a:prstGeom prst="rect">
            <a:avLst/>
          </a:prstGeom>
        </p:spPr>
      </p:pic>
      <p:sp>
        <p:nvSpPr>
          <p:cNvPr id="6" name="Text 1"/>
          <p:cNvSpPr/>
          <p:nvPr/>
        </p:nvSpPr>
        <p:spPr>
          <a:xfrm>
            <a:off x="5750719" y="1670605"/>
            <a:ext cx="2964656" cy="184666"/>
          </a:xfrm>
          <a:prstGeom prst="rect">
            <a:avLst/>
          </a:prstGeom>
          <a:noFill/>
          <a:ln/>
        </p:spPr>
        <p:txBody>
          <a:bodyPr wrap="square" lIns="0" tIns="0" rIns="0" bIns="0" rtlCol="0" anchor="t">
            <a:spAutoFit/>
          </a:bodyPr>
          <a:lstStyle/>
          <a:p>
            <a:pPr marL="0" indent="0" algn="l">
              <a:buNone/>
            </a:pPr>
            <a:r>
              <a:rPr lang="en-US" sz="1200" b="1" dirty="0">
                <a:solidFill>
                  <a:srgbClr val="333333"/>
                </a:solidFill>
                <a:latin typeface="Times New Roman" panose="02020603050405020304" pitchFamily="18" charset="0"/>
                <a:ea typeface="Montserrat Medium" pitchFamily="34" charset="-122"/>
                <a:cs typeface="Times New Roman" panose="02020603050405020304" pitchFamily="18" charset="0"/>
              </a:rPr>
              <a:t>Waiting Time Distribution</a:t>
            </a:r>
            <a:endParaRPr lang="en-US" sz="1200" dirty="0">
              <a:latin typeface="Times New Roman" panose="02020603050405020304" pitchFamily="18" charset="0"/>
              <a:cs typeface="Times New Roman" panose="02020603050405020304" pitchFamily="18" charset="0"/>
            </a:endParaRPr>
          </a:p>
        </p:txBody>
      </p:sp>
      <p:sp>
        <p:nvSpPr>
          <p:cNvPr id="7" name="Text 2"/>
          <p:cNvSpPr/>
          <p:nvPr/>
        </p:nvSpPr>
        <p:spPr>
          <a:xfrm>
            <a:off x="5750719" y="1879560"/>
            <a:ext cx="2964656" cy="379206"/>
          </a:xfrm>
          <a:prstGeom prst="rect">
            <a:avLst/>
          </a:prstGeom>
          <a:noFill/>
          <a:ln/>
        </p:spPr>
        <p:txBody>
          <a:bodyPr wrap="square" lIns="0" tIns="0" rIns="0" bIns="0" rtlCol="0" anchor="t">
            <a:spAutoFit/>
          </a:bodyPr>
          <a:lstStyle/>
          <a:p>
            <a:pPr marL="0" indent="0" algn="l">
              <a:lnSpc>
                <a:spcPct val="112000"/>
              </a:lnSpc>
              <a:buNone/>
            </a:pPr>
            <a:r>
              <a:rPr lang="en-US" sz="1100" dirty="0">
                <a:latin typeface="Times New Roman" panose="02020603050405020304" pitchFamily="18" charset="0"/>
                <a:ea typeface="Montserrat" pitchFamily="34" charset="-122"/>
                <a:cs typeface="Times New Roman" panose="02020603050405020304" pitchFamily="18" charset="0"/>
              </a:rPr>
              <a:t>Significant variance observed across departments, with OPD and Billing showing the highest delays.</a:t>
            </a:r>
            <a:endParaRPr lang="en-US" sz="1100" dirty="0">
              <a:latin typeface="Times New Roman" panose="02020603050405020304" pitchFamily="18" charset="0"/>
              <a:cs typeface="Times New Roman" panose="02020603050405020304" pitchFamily="18" charset="0"/>
            </a:endParaRPr>
          </a:p>
        </p:txBody>
      </p:sp>
      <p:pic>
        <p:nvPicPr>
          <p:cNvPr id="8" name="Image 3" descr="preencoded.png"/>
          <p:cNvPicPr>
            <a:picLocks noChangeAspect="1"/>
          </p:cNvPicPr>
          <p:nvPr/>
        </p:nvPicPr>
        <p:blipFill>
          <a:blip r:embed="rId6"/>
          <a:stretch>
            <a:fillRect/>
          </a:stretch>
        </p:blipFill>
        <p:spPr>
          <a:xfrm>
            <a:off x="5514975" y="2413890"/>
            <a:ext cx="144661" cy="128588"/>
          </a:xfrm>
          <a:prstGeom prst="rect">
            <a:avLst/>
          </a:prstGeom>
        </p:spPr>
      </p:pic>
      <p:sp>
        <p:nvSpPr>
          <p:cNvPr id="9" name="Text 3"/>
          <p:cNvSpPr/>
          <p:nvPr/>
        </p:nvSpPr>
        <p:spPr>
          <a:xfrm>
            <a:off x="5766792" y="2378171"/>
            <a:ext cx="2948583" cy="184666"/>
          </a:xfrm>
          <a:prstGeom prst="rect">
            <a:avLst/>
          </a:prstGeom>
          <a:noFill/>
          <a:ln/>
        </p:spPr>
        <p:txBody>
          <a:bodyPr wrap="square" lIns="0" tIns="0" rIns="0" bIns="0" rtlCol="0" anchor="t">
            <a:spAutoFit/>
          </a:bodyPr>
          <a:lstStyle/>
          <a:p>
            <a:pPr marL="0" indent="0" algn="l">
              <a:buNone/>
            </a:pPr>
            <a:r>
              <a:rPr lang="en-US" sz="1200" b="1" dirty="0">
                <a:solidFill>
                  <a:srgbClr val="333333"/>
                </a:solidFill>
                <a:latin typeface="Times New Roman" panose="02020603050405020304" pitchFamily="18" charset="0"/>
                <a:ea typeface="Montserrat Medium" pitchFamily="34" charset="-122"/>
                <a:cs typeface="Times New Roman" panose="02020603050405020304" pitchFamily="18" charset="0"/>
              </a:rPr>
              <a:t>Correlation Analysis</a:t>
            </a:r>
            <a:endParaRPr lang="en-US" sz="1200" dirty="0">
              <a:latin typeface="Times New Roman" panose="02020603050405020304" pitchFamily="18" charset="0"/>
              <a:cs typeface="Times New Roman" panose="02020603050405020304" pitchFamily="18" charset="0"/>
            </a:endParaRPr>
          </a:p>
        </p:txBody>
      </p:sp>
      <p:sp>
        <p:nvSpPr>
          <p:cNvPr id="10" name="Text 4"/>
          <p:cNvSpPr/>
          <p:nvPr/>
        </p:nvSpPr>
        <p:spPr>
          <a:xfrm>
            <a:off x="5766792" y="2587126"/>
            <a:ext cx="2948583" cy="758413"/>
          </a:xfrm>
          <a:prstGeom prst="rect">
            <a:avLst/>
          </a:prstGeom>
          <a:noFill/>
          <a:ln/>
        </p:spPr>
        <p:txBody>
          <a:bodyPr wrap="square" lIns="0" tIns="0" rIns="0" bIns="0" rtlCol="0" anchor="t">
            <a:spAutoFit/>
          </a:bodyPr>
          <a:lstStyle/>
          <a:p>
            <a:pPr>
              <a:lnSpc>
                <a:spcPct val="112000"/>
              </a:lnSpc>
            </a:pPr>
            <a:r>
              <a:rPr lang="en-US" sz="1100" dirty="0">
                <a:latin typeface="Times New Roman" panose="02020603050405020304" pitchFamily="18" charset="0"/>
                <a:cs typeface="Times New Roman" panose="02020603050405020304" pitchFamily="18" charset="0"/>
              </a:rPr>
              <a:t>A positive relationship is observed between patient arrival volume and total processing time. As patient arrivals increase, processing time also tends to increase.</a:t>
            </a:r>
            <a:endParaRPr lang="en-US" sz="1100" dirty="0">
              <a:latin typeface="Times New Roman" panose="02020603050405020304" pitchFamily="18" charset="0"/>
              <a:cs typeface="Times New Roman" panose="02020603050405020304" pitchFamily="18" charset="0"/>
            </a:endParaRPr>
          </a:p>
        </p:txBody>
      </p:sp>
      <p:pic>
        <p:nvPicPr>
          <p:cNvPr id="11" name="Image 4" descr="preencoded.png"/>
          <p:cNvPicPr>
            <a:picLocks noChangeAspect="1"/>
          </p:cNvPicPr>
          <p:nvPr/>
        </p:nvPicPr>
        <p:blipFill>
          <a:blip r:embed="rId7"/>
          <a:stretch>
            <a:fillRect/>
          </a:stretch>
        </p:blipFill>
        <p:spPr>
          <a:xfrm>
            <a:off x="5531048" y="3492945"/>
            <a:ext cx="128588" cy="128588"/>
          </a:xfrm>
          <a:prstGeom prst="rect">
            <a:avLst/>
          </a:prstGeom>
        </p:spPr>
      </p:pic>
      <p:sp>
        <p:nvSpPr>
          <p:cNvPr id="12" name="Text 5"/>
          <p:cNvSpPr/>
          <p:nvPr/>
        </p:nvSpPr>
        <p:spPr>
          <a:xfrm>
            <a:off x="5750719" y="3473085"/>
            <a:ext cx="2964656" cy="184666"/>
          </a:xfrm>
          <a:prstGeom prst="rect">
            <a:avLst/>
          </a:prstGeom>
          <a:noFill/>
          <a:ln/>
        </p:spPr>
        <p:txBody>
          <a:bodyPr wrap="square" lIns="0" tIns="0" rIns="0" bIns="0" rtlCol="0" anchor="t">
            <a:spAutoFit/>
          </a:bodyPr>
          <a:lstStyle/>
          <a:p>
            <a:pPr marL="0" indent="0" algn="l">
              <a:buNone/>
            </a:pPr>
            <a:r>
              <a:rPr lang="en-US" sz="1200" b="1" dirty="0">
                <a:solidFill>
                  <a:srgbClr val="333333"/>
                </a:solidFill>
                <a:latin typeface="Times New Roman" panose="02020603050405020304" pitchFamily="18" charset="0"/>
                <a:ea typeface="Montserrat Medium" pitchFamily="34" charset="-122"/>
                <a:cs typeface="Times New Roman" panose="02020603050405020304" pitchFamily="18" charset="0"/>
              </a:rPr>
              <a:t>Peak Hour Identification</a:t>
            </a:r>
            <a:endParaRPr lang="en-US" sz="1200" dirty="0">
              <a:latin typeface="Times New Roman" panose="02020603050405020304" pitchFamily="18" charset="0"/>
              <a:cs typeface="Times New Roman" panose="02020603050405020304" pitchFamily="18" charset="0"/>
            </a:endParaRPr>
          </a:p>
        </p:txBody>
      </p:sp>
      <p:sp>
        <p:nvSpPr>
          <p:cNvPr id="13" name="Text 6"/>
          <p:cNvSpPr/>
          <p:nvPr/>
        </p:nvSpPr>
        <p:spPr>
          <a:xfrm>
            <a:off x="5766792" y="3695190"/>
            <a:ext cx="2964656" cy="379206"/>
          </a:xfrm>
          <a:prstGeom prst="rect">
            <a:avLst/>
          </a:prstGeom>
          <a:noFill/>
          <a:ln/>
        </p:spPr>
        <p:txBody>
          <a:bodyPr wrap="square" lIns="0" tIns="0" rIns="0" bIns="0" rtlCol="0" anchor="t">
            <a:spAutoFit/>
          </a:bodyPr>
          <a:lstStyle/>
          <a:p>
            <a:pPr marL="0" indent="0" algn="l">
              <a:lnSpc>
                <a:spcPct val="112000"/>
              </a:lnSpc>
              <a:buNone/>
            </a:pPr>
            <a:r>
              <a:rPr lang="en-US" sz="1100" dirty="0">
                <a:latin typeface="Times New Roman" panose="02020603050405020304" pitchFamily="18" charset="0"/>
                <a:ea typeface="Montserrat" pitchFamily="34" charset="-122"/>
                <a:cs typeface="Times New Roman" panose="02020603050405020304" pitchFamily="18" charset="0"/>
              </a:rPr>
              <a:t>Data identifies 10:00 AM - 1:00 PM as the critical peak period requiring maximum resource allocation.</a:t>
            </a:r>
            <a:endParaRPr lang="en-US" sz="1100" dirty="0">
              <a:latin typeface="Times New Roman" panose="02020603050405020304" pitchFamily="18" charset="0"/>
              <a:cs typeface="Times New Roman" panose="02020603050405020304" pitchFamily="18" charset="0"/>
            </a:endParaRPr>
          </a:p>
        </p:txBody>
      </p:sp>
      <p:sp>
        <p:nvSpPr>
          <p:cNvPr id="14" name="Shape 7"/>
          <p:cNvSpPr/>
          <p:nvPr/>
        </p:nvSpPr>
        <p:spPr>
          <a:xfrm>
            <a:off x="-59206" y="4572000"/>
            <a:ext cx="9203206" cy="571500"/>
          </a:xfrm>
          <a:prstGeom prst="rect">
            <a:avLst/>
          </a:prstGeom>
          <a:solidFill>
            <a:srgbClr val="C00000"/>
          </a:solidFill>
          <a:ln/>
        </p:spPr>
      </p:sp>
      <p:sp>
        <p:nvSpPr>
          <p:cNvPr id="15" name="Text 8"/>
          <p:cNvSpPr/>
          <p:nvPr/>
        </p:nvSpPr>
        <p:spPr>
          <a:xfrm>
            <a:off x="214312" y="4750027"/>
            <a:ext cx="5229225" cy="215444"/>
          </a:xfrm>
          <a:prstGeom prst="rect">
            <a:avLst/>
          </a:prstGeom>
          <a:noFill/>
          <a:ln/>
        </p:spPr>
        <p:txBody>
          <a:bodyPr wrap="square" lIns="0" tIns="0" rIns="0" bIns="0" rtlCol="0" anchor="t">
            <a:spAutoFit/>
          </a:bodyPr>
          <a:lstStyle/>
          <a:p>
            <a:pPr marL="0" indent="0" algn="l">
              <a:buNone/>
            </a:pPr>
            <a:r>
              <a:rPr lang="en-US" sz="1400" b="1" dirty="0">
                <a:solidFill>
                  <a:srgbClr val="FFFFFF"/>
                </a:solidFill>
                <a:latin typeface="Times New Roman" panose="02020603050405020304" pitchFamily="18" charset="0"/>
                <a:ea typeface="Microsoft YaHei Light" panose="020B0502040204020203" pitchFamily="34" charset="-122"/>
                <a:cs typeface="Times New Roman" panose="02020603050405020304" pitchFamily="18" charset="0"/>
              </a:rPr>
              <a:t>Dr. Moonje Institute of Management &amp; Computer Studies, Nashik</a:t>
            </a:r>
            <a:endParaRPr lang="en-US" sz="1400" b="1"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pic>
        <p:nvPicPr>
          <p:cNvPr id="16" name="Picture 1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096300" y="4407743"/>
            <a:ext cx="1271447" cy="90001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2362795" cy="362920"/>
          </a:xfrm>
          <a:prstGeom prst="rect">
            <a:avLst/>
          </a:prstGeom>
          <a:noFill/>
          <a:ln/>
        </p:spPr>
        <p:txBody>
          <a:bodyPr wrap="square" lIns="0" tIns="0" rIns="0" bIns="85090" rtlCol="0" anchor="t">
            <a:spAutoFit/>
          </a:bodyPr>
          <a:lstStyle/>
          <a:p>
            <a:pPr marL="0" indent="0" algn="l">
              <a:buNone/>
            </a:pPr>
            <a:r>
              <a:rPr lang="en-US" b="1" dirty="0">
                <a:solidFill>
                  <a:srgbClr val="C00000"/>
                </a:solidFill>
                <a:latin typeface="Times New Roman" panose="02020603050405020304" pitchFamily="18" charset="0"/>
                <a:ea typeface="Playfair Display Bold" pitchFamily="34" charset="-122"/>
                <a:cs typeface="Times New Roman" panose="02020603050405020304" pitchFamily="18" charset="0"/>
              </a:rPr>
              <a:t>Findings / Results</a:t>
            </a:r>
            <a:endParaRPr lang="en-US" dirty="0">
              <a:latin typeface="Times New Roman" panose="02020603050405020304" pitchFamily="18" charset="0"/>
              <a:cs typeface="Times New Roman" panose="02020603050405020304" pitchFamily="18" charset="0"/>
            </a:endParaRPr>
          </a:p>
        </p:txBody>
      </p:sp>
      <p:pic>
        <p:nvPicPr>
          <p:cNvPr id="4" name="Image 1" descr="preencoded.png"/>
          <p:cNvPicPr>
            <a:picLocks noChangeAspect="1"/>
          </p:cNvPicPr>
          <p:nvPr/>
        </p:nvPicPr>
        <p:blipFill>
          <a:blip r:embed="rId4"/>
          <a:stretch>
            <a:fillRect/>
          </a:stretch>
        </p:blipFill>
        <p:spPr>
          <a:xfrm>
            <a:off x="535781" y="1209080"/>
            <a:ext cx="285750" cy="200025"/>
          </a:xfrm>
          <a:prstGeom prst="rect">
            <a:avLst/>
          </a:prstGeom>
        </p:spPr>
      </p:pic>
      <p:sp>
        <p:nvSpPr>
          <p:cNvPr id="5" name="Text 1"/>
          <p:cNvSpPr/>
          <p:nvPr/>
        </p:nvSpPr>
        <p:spPr>
          <a:xfrm>
            <a:off x="821531" y="1199257"/>
            <a:ext cx="1969889" cy="184666"/>
          </a:xfrm>
          <a:prstGeom prst="rect">
            <a:avLst/>
          </a:prstGeom>
          <a:noFill/>
          <a:ln/>
        </p:spPr>
        <p:txBody>
          <a:bodyPr wrap="square" lIns="0" tIns="0" rIns="0" bIns="0" rtlCol="0" anchor="t">
            <a:spAutoFit/>
          </a:bodyPr>
          <a:lstStyle/>
          <a:p>
            <a:pPr marL="0" indent="0" algn="l">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Registration Bottlenecks</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6" name="Text 2"/>
          <p:cNvSpPr/>
          <p:nvPr/>
        </p:nvSpPr>
        <p:spPr>
          <a:xfrm>
            <a:off x="428625" y="1501973"/>
            <a:ext cx="4000500" cy="388568"/>
          </a:xfrm>
          <a:prstGeom prst="rect">
            <a:avLst/>
          </a:prstGeom>
          <a:noFill/>
          <a:ln/>
        </p:spPr>
        <p:txBody>
          <a:bodyPr wrap="square" lIns="467741" tIns="0" rIns="0" bIns="0" rtlCol="0" anchor="t">
            <a:spAutoFit/>
          </a:bodyPr>
          <a:lstStyle/>
          <a:p>
            <a:pPr marL="0" indent="0" algn="just">
              <a:lnSpc>
                <a:spcPct val="120000"/>
              </a:lnSpc>
              <a:buNone/>
            </a:pPr>
            <a:r>
              <a:rPr lang="en-US" sz="1100" dirty="0">
                <a:solidFill>
                  <a:srgbClr val="555555"/>
                </a:solidFill>
                <a:latin typeface="Times New Roman" panose="02020603050405020304" pitchFamily="18" charset="0"/>
                <a:ea typeface="Montserrat" pitchFamily="34" charset="-122"/>
                <a:cs typeface="Times New Roman" panose="02020603050405020304" pitchFamily="18" charset="0"/>
              </a:rPr>
              <a:t>Registration and billing processes are the primary bottlenecks, accounting for approximately </a:t>
            </a:r>
            <a:r>
              <a:rPr lang="en-US" sz="1100" dirty="0">
                <a:solidFill>
                  <a:srgbClr val="C00000"/>
                </a:solidFill>
                <a:latin typeface="Times New Roman" panose="02020603050405020304" pitchFamily="18" charset="0"/>
                <a:ea typeface="Montserrat Medium" pitchFamily="34" charset="-122"/>
                <a:cs typeface="Times New Roman" panose="02020603050405020304" pitchFamily="18" charset="0"/>
              </a:rPr>
              <a:t>40% of total patient wait time</a:t>
            </a:r>
            <a:r>
              <a:rPr lang="en-US" sz="1100" dirty="0">
                <a:solidFill>
                  <a:srgbClr val="555555"/>
                </a:solidFill>
                <a:latin typeface="Times New Roman" panose="02020603050405020304" pitchFamily="18" charset="0"/>
                <a:ea typeface="Montserrat" pitchFamily="34" charset="-122"/>
                <a:cs typeface="Times New Roman" panose="02020603050405020304" pitchFamily="18" charset="0"/>
              </a:rPr>
              <a:t>.</a:t>
            </a:r>
            <a:endParaRPr lang="en-US" sz="1100" dirty="0">
              <a:latin typeface="Times New Roman" panose="02020603050405020304" pitchFamily="18" charset="0"/>
              <a:cs typeface="Times New Roman" panose="02020603050405020304" pitchFamily="18" charset="0"/>
            </a:endParaRPr>
          </a:p>
        </p:txBody>
      </p:sp>
      <p:pic>
        <p:nvPicPr>
          <p:cNvPr id="7" name="Image 2" descr="preencoded.png"/>
          <p:cNvPicPr>
            <a:picLocks noChangeAspect="1"/>
          </p:cNvPicPr>
          <p:nvPr/>
        </p:nvPicPr>
        <p:blipFill>
          <a:blip r:embed="rId5"/>
          <a:stretch>
            <a:fillRect/>
          </a:stretch>
        </p:blipFill>
        <p:spPr>
          <a:xfrm>
            <a:off x="4767503" y="1202382"/>
            <a:ext cx="285750" cy="200025"/>
          </a:xfrm>
          <a:prstGeom prst="rect">
            <a:avLst/>
          </a:prstGeom>
        </p:spPr>
      </p:pic>
      <p:sp>
        <p:nvSpPr>
          <p:cNvPr id="8" name="Text 3"/>
          <p:cNvSpPr/>
          <p:nvPr/>
        </p:nvSpPr>
        <p:spPr>
          <a:xfrm>
            <a:off x="5107781" y="1199257"/>
            <a:ext cx="1457325" cy="184666"/>
          </a:xfrm>
          <a:prstGeom prst="rect">
            <a:avLst/>
          </a:prstGeom>
          <a:noFill/>
          <a:ln/>
        </p:spPr>
        <p:txBody>
          <a:bodyPr wrap="square" lIns="0" tIns="0" rIns="0" bIns="0" rtlCol="0" anchor="t">
            <a:spAutoFit/>
          </a:bodyPr>
          <a:lstStyle/>
          <a:p>
            <a:pPr marL="0" indent="0" algn="l">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Staffing Mismatch</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9" name="Text 4"/>
          <p:cNvSpPr/>
          <p:nvPr/>
        </p:nvSpPr>
        <p:spPr>
          <a:xfrm>
            <a:off x="4714875" y="1501973"/>
            <a:ext cx="4000500" cy="609398"/>
          </a:xfrm>
          <a:prstGeom prst="rect">
            <a:avLst/>
          </a:prstGeom>
          <a:noFill/>
          <a:ln/>
        </p:spPr>
        <p:txBody>
          <a:bodyPr wrap="square" lIns="467741" tIns="0" rIns="0" bIns="0" rtlCol="0" anchor="t">
            <a:spAutoFit/>
          </a:bodyPr>
          <a:lstStyle/>
          <a:p>
            <a:pPr marL="0" indent="0" algn="just">
              <a:lnSpc>
                <a:spcPct val="120000"/>
              </a:lnSpc>
              <a:buNone/>
            </a:pPr>
            <a:r>
              <a:rPr lang="en-US" sz="1100" dirty="0">
                <a:solidFill>
                  <a:srgbClr val="555555"/>
                </a:solidFill>
                <a:latin typeface="Times New Roman" panose="02020603050405020304" pitchFamily="18" charset="0"/>
                <a:ea typeface="Montserrat" pitchFamily="34" charset="-122"/>
                <a:cs typeface="Times New Roman" panose="02020603050405020304" pitchFamily="18" charset="0"/>
              </a:rPr>
              <a:t>Peak patient arrival times often </a:t>
            </a:r>
            <a:r>
              <a:rPr lang="en-US" sz="1100" dirty="0">
                <a:solidFill>
                  <a:srgbClr val="C00000"/>
                </a:solidFill>
                <a:latin typeface="Times New Roman" panose="02020603050405020304" pitchFamily="18" charset="0"/>
                <a:ea typeface="Montserrat Medium" pitchFamily="34" charset="-122"/>
                <a:cs typeface="Times New Roman" panose="02020603050405020304" pitchFamily="18" charset="0"/>
              </a:rPr>
              <a:t>do not align</a:t>
            </a:r>
            <a:r>
              <a:rPr lang="en-US" sz="1100" dirty="0">
                <a:solidFill>
                  <a:srgbClr val="555555"/>
                </a:solidFill>
                <a:latin typeface="Times New Roman" panose="02020603050405020304" pitchFamily="18" charset="0"/>
                <a:ea typeface="Montserrat" pitchFamily="34" charset="-122"/>
                <a:cs typeface="Times New Roman" panose="02020603050405020304" pitchFamily="18" charset="0"/>
              </a:rPr>
              <a:t> with maximum staff availability, leading to significant service delays during high-demand periods.</a:t>
            </a:r>
            <a:endParaRPr lang="en-US" sz="1100" dirty="0">
              <a:latin typeface="Times New Roman" panose="02020603050405020304" pitchFamily="18" charset="0"/>
              <a:cs typeface="Times New Roman" panose="02020603050405020304" pitchFamily="18" charset="0"/>
            </a:endParaRPr>
          </a:p>
        </p:txBody>
      </p:sp>
      <p:pic>
        <p:nvPicPr>
          <p:cNvPr id="10" name="Image 3" descr="preencoded.png"/>
          <p:cNvPicPr>
            <a:picLocks noChangeAspect="1"/>
          </p:cNvPicPr>
          <p:nvPr/>
        </p:nvPicPr>
        <p:blipFill>
          <a:blip r:embed="rId6"/>
          <a:stretch>
            <a:fillRect/>
          </a:stretch>
        </p:blipFill>
        <p:spPr>
          <a:xfrm>
            <a:off x="481253" y="3097709"/>
            <a:ext cx="285750" cy="200025"/>
          </a:xfrm>
          <a:prstGeom prst="rect">
            <a:avLst/>
          </a:prstGeom>
        </p:spPr>
      </p:pic>
      <p:sp>
        <p:nvSpPr>
          <p:cNvPr id="11" name="Text 5"/>
          <p:cNvSpPr/>
          <p:nvPr/>
        </p:nvSpPr>
        <p:spPr>
          <a:xfrm>
            <a:off x="821531" y="3102173"/>
            <a:ext cx="1675209" cy="184666"/>
          </a:xfrm>
          <a:prstGeom prst="rect">
            <a:avLst/>
          </a:prstGeom>
          <a:noFill/>
          <a:ln/>
        </p:spPr>
        <p:txBody>
          <a:bodyPr wrap="square" lIns="0" tIns="0" rIns="0" bIns="0" rtlCol="0" anchor="t">
            <a:spAutoFit/>
          </a:bodyPr>
          <a:lstStyle/>
          <a:p>
            <a:pPr marL="0" indent="0" algn="l">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Process Redundancy</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12" name="Text 6"/>
          <p:cNvSpPr/>
          <p:nvPr/>
        </p:nvSpPr>
        <p:spPr>
          <a:xfrm>
            <a:off x="428625" y="3404890"/>
            <a:ext cx="4000500" cy="609398"/>
          </a:xfrm>
          <a:prstGeom prst="rect">
            <a:avLst/>
          </a:prstGeom>
          <a:noFill/>
          <a:ln/>
        </p:spPr>
        <p:txBody>
          <a:bodyPr wrap="square" lIns="467741" tIns="0" rIns="0" bIns="0" rtlCol="0" anchor="t">
            <a:spAutoFit/>
          </a:bodyPr>
          <a:lstStyle/>
          <a:p>
            <a:pPr marL="0" indent="0" algn="just">
              <a:lnSpc>
                <a:spcPct val="120000"/>
              </a:lnSpc>
              <a:buNone/>
            </a:pPr>
            <a:r>
              <a:rPr lang="en-US" sz="1100" dirty="0">
                <a:solidFill>
                  <a:srgbClr val="555555"/>
                </a:solidFill>
                <a:latin typeface="Times New Roman" panose="02020603050405020304" pitchFamily="18" charset="0"/>
                <a:ea typeface="Montserrat" pitchFamily="34" charset="-122"/>
                <a:cs typeface="Times New Roman" panose="02020603050405020304" pitchFamily="18" charset="0"/>
              </a:rPr>
              <a:t>Duplicate data entry points across different departments contribute to </a:t>
            </a:r>
            <a:r>
              <a:rPr lang="en-US" sz="1100" dirty="0">
                <a:solidFill>
                  <a:srgbClr val="C00000"/>
                </a:solidFill>
                <a:latin typeface="Times New Roman" panose="02020603050405020304" pitchFamily="18" charset="0"/>
                <a:ea typeface="Montserrat Medium" pitchFamily="34" charset="-122"/>
                <a:cs typeface="Times New Roman" panose="02020603050405020304" pitchFamily="18" charset="0"/>
              </a:rPr>
              <a:t>unnecessary administrative delays</a:t>
            </a:r>
            <a:r>
              <a:rPr lang="en-US" sz="1100" dirty="0">
                <a:solidFill>
                  <a:srgbClr val="555555"/>
                </a:solidFill>
                <a:latin typeface="Times New Roman" panose="02020603050405020304" pitchFamily="18" charset="0"/>
                <a:ea typeface="Montserrat" pitchFamily="34" charset="-122"/>
                <a:cs typeface="Times New Roman" panose="02020603050405020304" pitchFamily="18" charset="0"/>
              </a:rPr>
              <a:t> and increased error rates.</a:t>
            </a:r>
            <a:endParaRPr lang="en-US" sz="1100" dirty="0">
              <a:latin typeface="Times New Roman" panose="02020603050405020304" pitchFamily="18" charset="0"/>
              <a:cs typeface="Times New Roman" panose="02020603050405020304" pitchFamily="18" charset="0"/>
            </a:endParaRPr>
          </a:p>
        </p:txBody>
      </p:sp>
      <p:pic>
        <p:nvPicPr>
          <p:cNvPr id="13" name="Image 4" descr="preencoded.png"/>
          <p:cNvPicPr>
            <a:picLocks noChangeAspect="1"/>
          </p:cNvPicPr>
          <p:nvPr/>
        </p:nvPicPr>
        <p:blipFill>
          <a:blip r:embed="rId7"/>
          <a:stretch>
            <a:fillRect/>
          </a:stretch>
        </p:blipFill>
        <p:spPr>
          <a:xfrm>
            <a:off x="4767503" y="3105299"/>
            <a:ext cx="285750" cy="200025"/>
          </a:xfrm>
          <a:prstGeom prst="rect">
            <a:avLst/>
          </a:prstGeom>
        </p:spPr>
      </p:pic>
      <p:sp>
        <p:nvSpPr>
          <p:cNvPr id="14" name="Text 7"/>
          <p:cNvSpPr/>
          <p:nvPr/>
        </p:nvSpPr>
        <p:spPr>
          <a:xfrm>
            <a:off x="5107781" y="3102173"/>
            <a:ext cx="1550194" cy="184666"/>
          </a:xfrm>
          <a:prstGeom prst="rect">
            <a:avLst/>
          </a:prstGeom>
          <a:noFill/>
          <a:ln/>
        </p:spPr>
        <p:txBody>
          <a:bodyPr wrap="square" lIns="0" tIns="0" rIns="0" bIns="0" rtlCol="0" anchor="t">
            <a:spAutoFit/>
          </a:bodyPr>
          <a:lstStyle/>
          <a:p>
            <a:pPr marL="0" indent="0" algn="l">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Satisfaction Impact</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15" name="Text 8"/>
          <p:cNvSpPr/>
          <p:nvPr/>
        </p:nvSpPr>
        <p:spPr>
          <a:xfrm>
            <a:off x="4714875" y="3404890"/>
            <a:ext cx="4000500" cy="609398"/>
          </a:xfrm>
          <a:prstGeom prst="rect">
            <a:avLst/>
          </a:prstGeom>
          <a:noFill/>
          <a:ln/>
        </p:spPr>
        <p:txBody>
          <a:bodyPr wrap="square" lIns="467741" tIns="0" rIns="0" bIns="0" rtlCol="0" anchor="t">
            <a:spAutoFit/>
          </a:bodyPr>
          <a:lstStyle/>
          <a:p>
            <a:pPr marL="0" indent="0" algn="just">
              <a:lnSpc>
                <a:spcPct val="120000"/>
              </a:lnSpc>
              <a:buNone/>
            </a:pPr>
            <a:r>
              <a:rPr lang="en-US" sz="1100" dirty="0">
                <a:solidFill>
                  <a:srgbClr val="555555"/>
                </a:solidFill>
                <a:latin typeface="Times New Roman" panose="02020603050405020304" pitchFamily="18" charset="0"/>
                <a:ea typeface="Montserrat" pitchFamily="34" charset="-122"/>
                <a:cs typeface="Times New Roman" panose="02020603050405020304" pitchFamily="18" charset="0"/>
              </a:rPr>
              <a:t>A direct </a:t>
            </a:r>
            <a:r>
              <a:rPr lang="en-US" sz="1100" dirty="0">
                <a:solidFill>
                  <a:srgbClr val="C00000"/>
                </a:solidFill>
                <a:latin typeface="Times New Roman" panose="02020603050405020304" pitchFamily="18" charset="0"/>
                <a:ea typeface="Montserrat Medium" pitchFamily="34" charset="-122"/>
                <a:cs typeface="Times New Roman" panose="02020603050405020304" pitchFamily="18" charset="0"/>
              </a:rPr>
              <a:t>inverse correlation</a:t>
            </a:r>
            <a:r>
              <a:rPr lang="en-US" sz="1100" dirty="0">
                <a:solidFill>
                  <a:srgbClr val="555555"/>
                </a:solidFill>
                <a:latin typeface="Times New Roman" panose="02020603050405020304" pitchFamily="18" charset="0"/>
                <a:ea typeface="Montserrat" pitchFamily="34" charset="-122"/>
                <a:cs typeface="Times New Roman" panose="02020603050405020304" pitchFamily="18" charset="0"/>
              </a:rPr>
              <a:t> exists between wait time and patient satisfaction scores, with a sharp decline after the 30-minute mark.</a:t>
            </a:r>
            <a:endParaRPr lang="en-US" sz="1100" dirty="0">
              <a:latin typeface="Times New Roman" panose="02020603050405020304" pitchFamily="18" charset="0"/>
              <a:cs typeface="Times New Roman" panose="02020603050405020304" pitchFamily="18" charset="0"/>
            </a:endParaRPr>
          </a:p>
        </p:txBody>
      </p:sp>
      <p:sp>
        <p:nvSpPr>
          <p:cNvPr id="16" name="Shape 9"/>
          <p:cNvSpPr/>
          <p:nvPr/>
        </p:nvSpPr>
        <p:spPr>
          <a:xfrm>
            <a:off x="0" y="4572000"/>
            <a:ext cx="9144000" cy="571500"/>
          </a:xfrm>
          <a:prstGeom prst="rect">
            <a:avLst/>
          </a:prstGeom>
          <a:solidFill>
            <a:srgbClr val="C00000"/>
          </a:solidFill>
          <a:ln/>
        </p:spPr>
      </p:sp>
      <p:sp>
        <p:nvSpPr>
          <p:cNvPr id="17" name="Text 10"/>
          <p:cNvSpPr/>
          <p:nvPr/>
        </p:nvSpPr>
        <p:spPr>
          <a:xfrm>
            <a:off x="213387" y="4750027"/>
            <a:ext cx="5253277" cy="215444"/>
          </a:xfrm>
          <a:prstGeom prst="rect">
            <a:avLst/>
          </a:prstGeom>
          <a:noFill/>
          <a:ln/>
        </p:spPr>
        <p:txBody>
          <a:bodyPr wrap="square" lIns="0" tIns="0" rIns="0" bIns="0" rtlCol="0" anchor="t">
            <a:spAutoFit/>
          </a:bodyPr>
          <a:lstStyle/>
          <a:p>
            <a:pPr marL="0" indent="0" algn="l">
              <a:buNone/>
            </a:pPr>
            <a:r>
              <a:rPr lang="en-US" sz="1400" b="1" dirty="0">
                <a:solidFill>
                  <a:srgbClr val="FFFFFF"/>
                </a:solidFill>
                <a:latin typeface="Times New Roman" panose="02020603050405020304" pitchFamily="18" charset="0"/>
                <a:ea typeface="Microsoft YaHei Light" panose="020B0502040204020203" pitchFamily="34" charset="-122"/>
                <a:cs typeface="Times New Roman" panose="02020603050405020304" pitchFamily="18" charset="0"/>
              </a:rPr>
              <a:t>Dr. Moonje Institute of Management &amp; Computer Studies, Nashik</a:t>
            </a:r>
            <a:endParaRPr lang="en-US" sz="1400" b="1"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pic>
        <p:nvPicPr>
          <p:cNvPr id="18" name="Picture 1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096300" y="4407743"/>
            <a:ext cx="1271447" cy="90001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1498402" cy="362920"/>
          </a:xfrm>
          <a:prstGeom prst="rect">
            <a:avLst/>
          </a:prstGeom>
          <a:noFill/>
          <a:ln/>
        </p:spPr>
        <p:txBody>
          <a:bodyPr wrap="square" lIns="0" tIns="0" rIns="0" bIns="85090" rtlCol="0" anchor="t">
            <a:spAutoFit/>
          </a:bodyPr>
          <a:lstStyle/>
          <a:p>
            <a:pPr marL="0" indent="0" algn="l">
              <a:buNone/>
            </a:pPr>
            <a:r>
              <a:rPr lang="en-US" b="1" dirty="0">
                <a:solidFill>
                  <a:srgbClr val="C00000"/>
                </a:solidFill>
                <a:latin typeface="Times New Roman" panose="02020603050405020304" pitchFamily="18" charset="0"/>
                <a:ea typeface="Playfair Display Bold" pitchFamily="34" charset="-122"/>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p:txBody>
      </p:sp>
      <p:sp>
        <p:nvSpPr>
          <p:cNvPr id="4" name="Text 1"/>
          <p:cNvSpPr/>
          <p:nvPr/>
        </p:nvSpPr>
        <p:spPr>
          <a:xfrm>
            <a:off x="714375" y="1375563"/>
            <a:ext cx="7715250" cy="960053"/>
          </a:xfrm>
          <a:prstGeom prst="rect">
            <a:avLst/>
          </a:prstGeom>
          <a:noFill/>
          <a:ln/>
        </p:spPr>
        <p:txBody>
          <a:bodyPr wrap="square" lIns="255143" tIns="0" rIns="0" bIns="0" rtlCol="0" anchor="t">
            <a:spAutoFit/>
          </a:bodyPr>
          <a:lstStyle/>
          <a:p>
            <a:pPr marL="0" indent="0" algn="ctr">
              <a:lnSpc>
                <a:spcPct val="112000"/>
              </a:lnSpc>
              <a:buNone/>
            </a:pPr>
            <a:r>
              <a:rPr lang="en-US" sz="1700" i="1" dirty="0">
                <a:solidFill>
                  <a:srgbClr val="333333"/>
                </a:solidFill>
                <a:latin typeface="Playfair Display" pitchFamily="34" charset="0"/>
                <a:ea typeface="Playfair Display" pitchFamily="34" charset="-122"/>
                <a:cs typeface="Playfair Display" pitchFamily="34" charset="-120"/>
              </a:rPr>
              <a:t>"Business analytics provides a powerful lens to transform hospital operations from reactive to proactive, ensuring that patient care remains the central priority."</a:t>
            </a:r>
            <a:endParaRPr lang="en-US" sz="1700" dirty="0"/>
          </a:p>
        </p:txBody>
      </p:sp>
      <p:pic>
        <p:nvPicPr>
          <p:cNvPr id="5" name="Image 1" descr="preencoded.png"/>
          <p:cNvPicPr>
            <a:picLocks noChangeAspect="1"/>
          </p:cNvPicPr>
          <p:nvPr/>
        </p:nvPicPr>
        <p:blipFill>
          <a:blip r:embed="rId4"/>
          <a:stretch>
            <a:fillRect/>
          </a:stretch>
        </p:blipFill>
        <p:spPr>
          <a:xfrm>
            <a:off x="1797825" y="2692803"/>
            <a:ext cx="214313" cy="285750"/>
          </a:xfrm>
          <a:prstGeom prst="rect">
            <a:avLst/>
          </a:prstGeom>
        </p:spPr>
      </p:pic>
      <p:sp>
        <p:nvSpPr>
          <p:cNvPr id="6" name="Text 2"/>
          <p:cNvSpPr/>
          <p:nvPr/>
        </p:nvSpPr>
        <p:spPr>
          <a:xfrm>
            <a:off x="714375" y="3121428"/>
            <a:ext cx="2381241" cy="184666"/>
          </a:xfrm>
          <a:prstGeom prst="rect">
            <a:avLst/>
          </a:prstGeom>
          <a:noFill/>
          <a:ln/>
        </p:spPr>
        <p:txBody>
          <a:bodyPr wrap="square" lIns="0" tIns="0" rIns="0" bIns="0" rtlCol="0" anchor="t">
            <a:spAutoFit/>
          </a:bodyPr>
          <a:lstStyle/>
          <a:p>
            <a:pPr marL="0" indent="0" algn="ctr">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Operational Summary</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7" name="Text 3"/>
          <p:cNvSpPr/>
          <p:nvPr/>
        </p:nvSpPr>
        <p:spPr>
          <a:xfrm>
            <a:off x="714375" y="3419680"/>
            <a:ext cx="2381241" cy="812530"/>
          </a:xfrm>
          <a:prstGeom prst="rect">
            <a:avLst/>
          </a:prstGeom>
          <a:noFill/>
          <a:ln/>
        </p:spPr>
        <p:txBody>
          <a:bodyPr wrap="square" lIns="0" tIns="0" rIns="0" bIns="0" rtlCol="0" anchor="t">
            <a:spAutoFit/>
          </a:bodyPr>
          <a:lstStyle/>
          <a:p>
            <a:pPr marL="0" indent="0" algn="ctr">
              <a:lnSpc>
                <a:spcPct val="120000"/>
              </a:lnSpc>
              <a:buNone/>
            </a:pPr>
            <a:r>
              <a:rPr lang="en-US" sz="1100" dirty="0">
                <a:latin typeface="Times New Roman" panose="02020603050405020304" pitchFamily="18" charset="0"/>
                <a:ea typeface="Montserrat" pitchFamily="34" charset="-122"/>
                <a:cs typeface="Times New Roman" panose="02020603050405020304" pitchFamily="18" charset="0"/>
              </a:rPr>
              <a:t>Optimization through data-driven insights significantly reduces wait times and enhances patient flow across all departments.</a:t>
            </a:r>
            <a:endParaRPr lang="en-US" sz="1100" dirty="0">
              <a:latin typeface="Times New Roman" panose="02020603050405020304" pitchFamily="18" charset="0"/>
              <a:cs typeface="Times New Roman" panose="02020603050405020304" pitchFamily="18" charset="0"/>
            </a:endParaRPr>
          </a:p>
        </p:txBody>
      </p:sp>
      <p:pic>
        <p:nvPicPr>
          <p:cNvPr id="8" name="Image 2" descr="preencoded.png"/>
          <p:cNvPicPr>
            <a:picLocks noChangeAspect="1"/>
          </p:cNvPicPr>
          <p:nvPr/>
        </p:nvPicPr>
        <p:blipFill>
          <a:blip r:embed="rId5"/>
          <a:stretch>
            <a:fillRect/>
          </a:stretch>
        </p:blipFill>
        <p:spPr>
          <a:xfrm>
            <a:off x="4411238" y="2692803"/>
            <a:ext cx="321469" cy="285750"/>
          </a:xfrm>
          <a:prstGeom prst="rect">
            <a:avLst/>
          </a:prstGeom>
        </p:spPr>
      </p:pic>
      <p:sp>
        <p:nvSpPr>
          <p:cNvPr id="9" name="Text 4"/>
          <p:cNvSpPr/>
          <p:nvPr/>
        </p:nvSpPr>
        <p:spPr>
          <a:xfrm>
            <a:off x="3381366" y="3121428"/>
            <a:ext cx="2381241" cy="184666"/>
          </a:xfrm>
          <a:prstGeom prst="rect">
            <a:avLst/>
          </a:prstGeom>
          <a:noFill/>
          <a:ln/>
        </p:spPr>
        <p:txBody>
          <a:bodyPr wrap="square" lIns="0" tIns="0" rIns="0" bIns="0" rtlCol="0" anchor="t">
            <a:spAutoFit/>
          </a:bodyPr>
          <a:lstStyle/>
          <a:p>
            <a:pPr marL="0" indent="0" algn="ctr">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Quality Impact</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10" name="Text 5"/>
          <p:cNvSpPr/>
          <p:nvPr/>
        </p:nvSpPr>
        <p:spPr>
          <a:xfrm>
            <a:off x="3381366" y="3419680"/>
            <a:ext cx="2381241" cy="609398"/>
          </a:xfrm>
          <a:prstGeom prst="rect">
            <a:avLst/>
          </a:prstGeom>
          <a:noFill/>
          <a:ln/>
        </p:spPr>
        <p:txBody>
          <a:bodyPr wrap="square" lIns="0" tIns="0" rIns="0" bIns="0" rtlCol="0" anchor="t">
            <a:spAutoFit/>
          </a:bodyPr>
          <a:lstStyle/>
          <a:p>
            <a:pPr marL="0" indent="0" algn="ctr">
              <a:lnSpc>
                <a:spcPct val="120000"/>
              </a:lnSpc>
              <a:buNone/>
            </a:pPr>
            <a:r>
              <a:rPr lang="en-US" sz="1100" dirty="0">
                <a:latin typeface="Times New Roman" panose="02020603050405020304" pitchFamily="18" charset="0"/>
                <a:ea typeface="Montserrat" pitchFamily="34" charset="-122"/>
                <a:cs typeface="Times New Roman" panose="02020603050405020304" pitchFamily="18" charset="0"/>
              </a:rPr>
              <a:t>Reduced waiting times directly correlate with improved clinical outcomes and higher patient satisfaction scores.</a:t>
            </a:r>
            <a:endParaRPr lang="en-US" sz="1100" dirty="0">
              <a:latin typeface="Times New Roman" panose="02020603050405020304" pitchFamily="18" charset="0"/>
              <a:cs typeface="Times New Roman" panose="02020603050405020304" pitchFamily="18" charset="0"/>
            </a:endParaRPr>
          </a:p>
        </p:txBody>
      </p:sp>
      <p:pic>
        <p:nvPicPr>
          <p:cNvPr id="11" name="Image 3" descr="preencoded.png"/>
          <p:cNvPicPr>
            <a:picLocks noChangeAspect="1"/>
          </p:cNvPicPr>
          <p:nvPr/>
        </p:nvPicPr>
        <p:blipFill>
          <a:blip r:embed="rId6"/>
          <a:stretch>
            <a:fillRect/>
          </a:stretch>
        </p:blipFill>
        <p:spPr>
          <a:xfrm>
            <a:off x="7131834" y="2692803"/>
            <a:ext cx="214313" cy="285750"/>
          </a:xfrm>
          <a:prstGeom prst="rect">
            <a:avLst/>
          </a:prstGeom>
        </p:spPr>
      </p:pic>
      <p:sp>
        <p:nvSpPr>
          <p:cNvPr id="12" name="Text 6"/>
          <p:cNvSpPr/>
          <p:nvPr/>
        </p:nvSpPr>
        <p:spPr>
          <a:xfrm>
            <a:off x="6048356" y="3121428"/>
            <a:ext cx="2381269" cy="184666"/>
          </a:xfrm>
          <a:prstGeom prst="rect">
            <a:avLst/>
          </a:prstGeom>
          <a:noFill/>
          <a:ln/>
        </p:spPr>
        <p:txBody>
          <a:bodyPr wrap="square" lIns="0" tIns="0" rIns="0" bIns="0" rtlCol="0" anchor="t">
            <a:spAutoFit/>
          </a:bodyPr>
          <a:lstStyle/>
          <a:p>
            <a:pPr marL="0" indent="0" algn="ctr">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Final Thought</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13" name="Text 7"/>
          <p:cNvSpPr/>
          <p:nvPr/>
        </p:nvSpPr>
        <p:spPr>
          <a:xfrm>
            <a:off x="6048356" y="3419680"/>
            <a:ext cx="2381269" cy="609398"/>
          </a:xfrm>
          <a:prstGeom prst="rect">
            <a:avLst/>
          </a:prstGeom>
          <a:noFill/>
          <a:ln/>
        </p:spPr>
        <p:txBody>
          <a:bodyPr wrap="square" lIns="0" tIns="0" rIns="0" bIns="0" rtlCol="0" anchor="t">
            <a:spAutoFit/>
          </a:bodyPr>
          <a:lstStyle/>
          <a:p>
            <a:pPr marL="0" indent="0" algn="ctr">
              <a:lnSpc>
                <a:spcPct val="120000"/>
              </a:lnSpc>
              <a:buNone/>
            </a:pPr>
            <a:r>
              <a:rPr lang="en-US" sz="1100" dirty="0">
                <a:latin typeface="Times New Roman" panose="02020603050405020304" pitchFamily="18" charset="0"/>
                <a:ea typeface="Montserrat" pitchFamily="34" charset="-122"/>
                <a:cs typeface="Times New Roman" panose="02020603050405020304" pitchFamily="18" charset="0"/>
              </a:rPr>
              <a:t>Data-driven decision-making is no longer optional but essential for the sustainability of modern healthcare management.</a:t>
            </a:r>
            <a:endParaRPr lang="en-US" sz="1100" dirty="0">
              <a:latin typeface="Times New Roman" panose="02020603050405020304" pitchFamily="18" charset="0"/>
              <a:cs typeface="Times New Roman" panose="02020603050405020304" pitchFamily="18" charset="0"/>
            </a:endParaRPr>
          </a:p>
        </p:txBody>
      </p:sp>
      <p:sp>
        <p:nvSpPr>
          <p:cNvPr id="14" name="Shape 8"/>
          <p:cNvSpPr/>
          <p:nvPr/>
        </p:nvSpPr>
        <p:spPr>
          <a:xfrm>
            <a:off x="-28" y="4572000"/>
            <a:ext cx="9144000" cy="571500"/>
          </a:xfrm>
          <a:prstGeom prst="rect">
            <a:avLst/>
          </a:prstGeom>
          <a:solidFill>
            <a:srgbClr val="C00000"/>
          </a:solidFill>
          <a:ln/>
        </p:spPr>
      </p:sp>
      <p:sp>
        <p:nvSpPr>
          <p:cNvPr id="15" name="Text 9"/>
          <p:cNvSpPr/>
          <p:nvPr/>
        </p:nvSpPr>
        <p:spPr>
          <a:xfrm>
            <a:off x="213387" y="4750027"/>
            <a:ext cx="5273013" cy="215444"/>
          </a:xfrm>
          <a:prstGeom prst="rect">
            <a:avLst/>
          </a:prstGeom>
          <a:noFill/>
          <a:ln/>
        </p:spPr>
        <p:txBody>
          <a:bodyPr wrap="square" lIns="0" tIns="0" rIns="0" bIns="0" rtlCol="0" anchor="t">
            <a:spAutoFit/>
          </a:bodyPr>
          <a:lstStyle/>
          <a:p>
            <a:pPr marL="0" indent="0" algn="l">
              <a:buNone/>
            </a:pPr>
            <a:r>
              <a:rPr lang="en-US" sz="1400" b="1" dirty="0">
                <a:solidFill>
                  <a:srgbClr val="FFFFFF"/>
                </a:solidFill>
                <a:latin typeface="Times New Roman" panose="02020603050405020304" pitchFamily="18" charset="0"/>
                <a:ea typeface="Microsoft YaHei Light" panose="020B0502040204020203" pitchFamily="34" charset="-122"/>
                <a:cs typeface="Times New Roman" panose="02020603050405020304" pitchFamily="18" charset="0"/>
              </a:rPr>
              <a:t>Dr. Moonje Institute of Management &amp; Computer Studies, Nashik</a:t>
            </a:r>
            <a:endParaRPr lang="en-US" sz="1400" b="1"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pic>
        <p:nvPicPr>
          <p:cNvPr id="16" name="Picture 1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96300" y="4407743"/>
            <a:ext cx="1271447" cy="90001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3393281" cy="362920"/>
          </a:xfrm>
          <a:prstGeom prst="rect">
            <a:avLst/>
          </a:prstGeom>
          <a:noFill/>
          <a:ln/>
        </p:spPr>
        <p:txBody>
          <a:bodyPr wrap="square" lIns="0" tIns="0" rIns="0" bIns="85090" rtlCol="0" anchor="t">
            <a:spAutoFit/>
          </a:bodyPr>
          <a:lstStyle/>
          <a:p>
            <a:pPr marL="0" indent="0" algn="l">
              <a:buNone/>
            </a:pPr>
            <a:r>
              <a:rPr lang="en-US" b="1" dirty="0">
                <a:solidFill>
                  <a:srgbClr val="C00000"/>
                </a:solidFill>
                <a:latin typeface="Times New Roman" panose="02020603050405020304" pitchFamily="18" charset="0"/>
                <a:ea typeface="Playfair Display Bold" pitchFamily="34" charset="-122"/>
                <a:cs typeface="Times New Roman" panose="02020603050405020304" pitchFamily="18" charset="0"/>
              </a:rPr>
              <a:t>Optimization Suggestions</a:t>
            </a:r>
            <a:endParaRPr lang="en-US" dirty="0">
              <a:latin typeface="Times New Roman" panose="02020603050405020304" pitchFamily="18" charset="0"/>
              <a:cs typeface="Times New Roman" panose="02020603050405020304" pitchFamily="18" charset="0"/>
            </a:endParaRPr>
          </a:p>
        </p:txBody>
      </p:sp>
      <p:pic>
        <p:nvPicPr>
          <p:cNvPr id="4" name="Image 1" descr="preencoded.png"/>
          <p:cNvPicPr>
            <a:picLocks noChangeAspect="1"/>
          </p:cNvPicPr>
          <p:nvPr/>
        </p:nvPicPr>
        <p:blipFill>
          <a:blip r:embed="rId4"/>
          <a:stretch>
            <a:fillRect/>
          </a:stretch>
        </p:blipFill>
        <p:spPr>
          <a:xfrm>
            <a:off x="571089" y="1194792"/>
            <a:ext cx="285750" cy="228600"/>
          </a:xfrm>
          <a:prstGeom prst="rect">
            <a:avLst/>
          </a:prstGeom>
        </p:spPr>
      </p:pic>
      <p:sp>
        <p:nvSpPr>
          <p:cNvPr id="5" name="Text 1"/>
          <p:cNvSpPr/>
          <p:nvPr/>
        </p:nvSpPr>
        <p:spPr>
          <a:xfrm>
            <a:off x="857250" y="1228085"/>
            <a:ext cx="1755577" cy="184666"/>
          </a:xfrm>
          <a:prstGeom prst="rect">
            <a:avLst/>
          </a:prstGeom>
          <a:noFill/>
          <a:ln/>
        </p:spPr>
        <p:txBody>
          <a:bodyPr wrap="square" lIns="0" tIns="0" rIns="0" bIns="0" rtlCol="0" anchor="t">
            <a:spAutoFit/>
          </a:bodyPr>
          <a:lstStyle/>
          <a:p>
            <a:pPr marL="0" indent="0" algn="l">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Predictive Scheduling</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6" name="Text 2"/>
          <p:cNvSpPr/>
          <p:nvPr/>
        </p:nvSpPr>
        <p:spPr>
          <a:xfrm>
            <a:off x="428625" y="1530548"/>
            <a:ext cx="4000500" cy="412292"/>
          </a:xfrm>
          <a:prstGeom prst="rect">
            <a:avLst/>
          </a:prstGeom>
          <a:noFill/>
          <a:ln/>
        </p:spPr>
        <p:txBody>
          <a:bodyPr wrap="square" lIns="510286" tIns="0" rIns="0" bIns="0" rtlCol="0" anchor="t">
            <a:spAutoFit/>
          </a:bodyPr>
          <a:lstStyle/>
          <a:p>
            <a:pPr marL="0" indent="0" algn="l">
              <a:lnSpc>
                <a:spcPct val="128000"/>
              </a:lnSpc>
              <a:buNone/>
            </a:pPr>
            <a:r>
              <a:rPr lang="en-US" sz="1100" dirty="0">
                <a:latin typeface="Times New Roman" panose="02020603050405020304" pitchFamily="18" charset="0"/>
                <a:ea typeface="Montserrat" pitchFamily="34" charset="-122"/>
                <a:cs typeface="Times New Roman" panose="02020603050405020304" pitchFamily="18" charset="0"/>
              </a:rPr>
              <a:t>Utilize historical data to forecast patient arrival patterns and align staffing levels dynamically with peak demand periods.</a:t>
            </a:r>
            <a:endParaRPr lang="en-US" sz="1100" dirty="0">
              <a:latin typeface="Times New Roman" panose="02020603050405020304" pitchFamily="18" charset="0"/>
              <a:cs typeface="Times New Roman" panose="02020603050405020304" pitchFamily="18" charset="0"/>
            </a:endParaRPr>
          </a:p>
        </p:txBody>
      </p:sp>
      <p:pic>
        <p:nvPicPr>
          <p:cNvPr id="7" name="Image 2" descr="preencoded.png"/>
          <p:cNvPicPr>
            <a:picLocks noChangeAspect="1"/>
          </p:cNvPicPr>
          <p:nvPr/>
        </p:nvPicPr>
        <p:blipFill>
          <a:blip r:embed="rId5"/>
          <a:stretch>
            <a:fillRect/>
          </a:stretch>
        </p:blipFill>
        <p:spPr>
          <a:xfrm>
            <a:off x="4857339" y="1228085"/>
            <a:ext cx="285750" cy="228600"/>
          </a:xfrm>
          <a:prstGeom prst="rect">
            <a:avLst/>
          </a:prstGeom>
        </p:spPr>
      </p:pic>
      <p:sp>
        <p:nvSpPr>
          <p:cNvPr id="8" name="Text 3"/>
          <p:cNvSpPr/>
          <p:nvPr/>
        </p:nvSpPr>
        <p:spPr>
          <a:xfrm>
            <a:off x="5143089" y="1257820"/>
            <a:ext cx="1793081" cy="169277"/>
          </a:xfrm>
          <a:prstGeom prst="rect">
            <a:avLst/>
          </a:prstGeom>
          <a:noFill/>
          <a:ln/>
        </p:spPr>
        <p:txBody>
          <a:bodyPr wrap="square" lIns="0" tIns="0" rIns="0" bIns="0" rtlCol="0" anchor="t">
            <a:spAutoFit/>
          </a:bodyPr>
          <a:lstStyle/>
          <a:p>
            <a:pPr marL="0" indent="0" algn="l">
              <a:buNone/>
            </a:pPr>
            <a:r>
              <a:rPr lang="en-US" sz="11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Digital Transformation</a:t>
            </a:r>
            <a:endParaRPr lang="en-US" sz="11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9" name="Text 4"/>
          <p:cNvSpPr/>
          <p:nvPr/>
        </p:nvSpPr>
        <p:spPr>
          <a:xfrm>
            <a:off x="4714875" y="1524354"/>
            <a:ext cx="4000500" cy="649986"/>
          </a:xfrm>
          <a:prstGeom prst="rect">
            <a:avLst/>
          </a:prstGeom>
          <a:noFill/>
          <a:ln/>
        </p:spPr>
        <p:txBody>
          <a:bodyPr wrap="square" lIns="510286" tIns="0" rIns="0" bIns="0" rtlCol="0" anchor="t">
            <a:spAutoFit/>
          </a:bodyPr>
          <a:lstStyle/>
          <a:p>
            <a:pPr marL="0" indent="0" algn="l">
              <a:lnSpc>
                <a:spcPct val="128000"/>
              </a:lnSpc>
              <a:buNone/>
            </a:pPr>
            <a:r>
              <a:rPr lang="en-US" sz="1100" dirty="0">
                <a:latin typeface="Times New Roman" panose="02020603050405020304" pitchFamily="18" charset="0"/>
                <a:ea typeface="Montserrat" pitchFamily="34" charset="-122"/>
                <a:cs typeface="Times New Roman" panose="02020603050405020304" pitchFamily="18" charset="0"/>
              </a:rPr>
              <a:t>Implement self-service kiosks and mobile registration platforms to decentralize the intake process and reduce front-desk congestion.</a:t>
            </a:r>
            <a:endParaRPr lang="en-US" sz="1100" dirty="0">
              <a:latin typeface="Times New Roman" panose="02020603050405020304" pitchFamily="18" charset="0"/>
              <a:cs typeface="Times New Roman" panose="02020603050405020304" pitchFamily="18" charset="0"/>
            </a:endParaRPr>
          </a:p>
        </p:txBody>
      </p:sp>
      <p:pic>
        <p:nvPicPr>
          <p:cNvPr id="10" name="Image 3" descr="preencoded.png"/>
          <p:cNvPicPr>
            <a:picLocks noChangeAspect="1"/>
          </p:cNvPicPr>
          <p:nvPr/>
        </p:nvPicPr>
        <p:blipFill>
          <a:blip r:embed="rId6"/>
          <a:stretch>
            <a:fillRect/>
          </a:stretch>
        </p:blipFill>
        <p:spPr>
          <a:xfrm>
            <a:off x="571089" y="3082631"/>
            <a:ext cx="285750" cy="228600"/>
          </a:xfrm>
          <a:prstGeom prst="rect">
            <a:avLst/>
          </a:prstGeom>
        </p:spPr>
      </p:pic>
      <p:sp>
        <p:nvSpPr>
          <p:cNvPr id="11" name="Text 5"/>
          <p:cNvSpPr/>
          <p:nvPr/>
        </p:nvSpPr>
        <p:spPr>
          <a:xfrm>
            <a:off x="857250" y="3101149"/>
            <a:ext cx="1912739" cy="184666"/>
          </a:xfrm>
          <a:prstGeom prst="rect">
            <a:avLst/>
          </a:prstGeom>
          <a:noFill/>
          <a:ln/>
        </p:spPr>
        <p:txBody>
          <a:bodyPr wrap="square" lIns="0" tIns="0" rIns="0" bIns="0" rtlCol="0" anchor="t">
            <a:spAutoFit/>
          </a:bodyPr>
          <a:lstStyle/>
          <a:p>
            <a:pPr marL="0" indent="0" algn="l">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Process Re-engineering</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12" name="Text 6"/>
          <p:cNvSpPr/>
          <p:nvPr/>
        </p:nvSpPr>
        <p:spPr>
          <a:xfrm>
            <a:off x="357188" y="3360703"/>
            <a:ext cx="4000500" cy="649986"/>
          </a:xfrm>
          <a:prstGeom prst="rect">
            <a:avLst/>
          </a:prstGeom>
          <a:noFill/>
          <a:ln/>
        </p:spPr>
        <p:txBody>
          <a:bodyPr wrap="square" lIns="510286" tIns="0" rIns="0" bIns="0" rtlCol="0" anchor="t">
            <a:spAutoFit/>
          </a:bodyPr>
          <a:lstStyle/>
          <a:p>
            <a:pPr marL="0" indent="0" algn="l">
              <a:lnSpc>
                <a:spcPct val="128000"/>
              </a:lnSpc>
              <a:buNone/>
            </a:pPr>
            <a:r>
              <a:rPr lang="en-US" sz="1100" dirty="0">
                <a:latin typeface="Times New Roman" panose="02020603050405020304" pitchFamily="18" charset="0"/>
                <a:ea typeface="Montserrat" pitchFamily="34" charset="-122"/>
                <a:cs typeface="Times New Roman" panose="02020603050405020304" pitchFamily="18" charset="0"/>
              </a:rPr>
              <a:t>Adopt Lean Six Sigma principles to identify and eliminate non-value-added steps, streamlining the end-to-end patient journey.</a:t>
            </a:r>
            <a:endParaRPr lang="en-US" sz="1100" dirty="0">
              <a:latin typeface="Times New Roman" panose="02020603050405020304" pitchFamily="18" charset="0"/>
              <a:cs typeface="Times New Roman" panose="02020603050405020304" pitchFamily="18" charset="0"/>
            </a:endParaRPr>
          </a:p>
        </p:txBody>
      </p:sp>
      <p:pic>
        <p:nvPicPr>
          <p:cNvPr id="13" name="Image 4" descr="preencoded.png"/>
          <p:cNvPicPr>
            <a:picLocks noChangeAspect="1"/>
          </p:cNvPicPr>
          <p:nvPr/>
        </p:nvPicPr>
        <p:blipFill>
          <a:blip r:embed="rId7"/>
          <a:stretch>
            <a:fillRect/>
          </a:stretch>
        </p:blipFill>
        <p:spPr>
          <a:xfrm>
            <a:off x="4857750" y="3094494"/>
            <a:ext cx="285750" cy="228600"/>
          </a:xfrm>
          <a:prstGeom prst="rect">
            <a:avLst/>
          </a:prstGeom>
        </p:spPr>
      </p:pic>
      <p:sp>
        <p:nvSpPr>
          <p:cNvPr id="14" name="Text 7"/>
          <p:cNvSpPr/>
          <p:nvPr/>
        </p:nvSpPr>
        <p:spPr>
          <a:xfrm>
            <a:off x="5202436" y="3104598"/>
            <a:ext cx="1710928" cy="184666"/>
          </a:xfrm>
          <a:prstGeom prst="rect">
            <a:avLst/>
          </a:prstGeom>
          <a:noFill/>
          <a:ln/>
        </p:spPr>
        <p:txBody>
          <a:bodyPr wrap="square" lIns="0" tIns="0" rIns="0" bIns="0" rtlCol="0" anchor="t">
            <a:spAutoFit/>
          </a:bodyPr>
          <a:lstStyle/>
          <a:p>
            <a:pPr marL="0" indent="0" algn="l">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Real-time Monitoring</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15" name="Text 8"/>
          <p:cNvSpPr/>
          <p:nvPr/>
        </p:nvSpPr>
        <p:spPr>
          <a:xfrm>
            <a:off x="4714875" y="3373701"/>
            <a:ext cx="4000500" cy="649986"/>
          </a:xfrm>
          <a:prstGeom prst="rect">
            <a:avLst/>
          </a:prstGeom>
          <a:noFill/>
          <a:ln/>
        </p:spPr>
        <p:txBody>
          <a:bodyPr wrap="square" lIns="510286" tIns="0" rIns="0" bIns="0" rtlCol="0" anchor="t">
            <a:spAutoFit/>
          </a:bodyPr>
          <a:lstStyle/>
          <a:p>
            <a:pPr marL="0" indent="0" algn="l">
              <a:lnSpc>
                <a:spcPct val="128000"/>
              </a:lnSpc>
              <a:buNone/>
            </a:pPr>
            <a:r>
              <a:rPr lang="en-US" sz="1100" dirty="0">
                <a:latin typeface="Times New Roman" panose="02020603050405020304" pitchFamily="18" charset="0"/>
                <a:ea typeface="Montserrat" pitchFamily="34" charset="-122"/>
                <a:cs typeface="Times New Roman" panose="02020603050405020304" pitchFamily="18" charset="0"/>
              </a:rPr>
              <a:t>Deploy interactive BI dashboards for administrators to monitor live patient flow and intervene immediately when bottlenecks occur.</a:t>
            </a:r>
            <a:endParaRPr lang="en-US" sz="1100" dirty="0">
              <a:latin typeface="Times New Roman" panose="02020603050405020304" pitchFamily="18" charset="0"/>
              <a:cs typeface="Times New Roman" panose="02020603050405020304" pitchFamily="18" charset="0"/>
            </a:endParaRPr>
          </a:p>
        </p:txBody>
      </p:sp>
      <p:sp>
        <p:nvSpPr>
          <p:cNvPr id="16" name="Shape 9"/>
          <p:cNvSpPr/>
          <p:nvPr/>
        </p:nvSpPr>
        <p:spPr>
          <a:xfrm>
            <a:off x="-822" y="4568688"/>
            <a:ext cx="9144000" cy="571500"/>
          </a:xfrm>
          <a:prstGeom prst="rect">
            <a:avLst/>
          </a:prstGeom>
          <a:solidFill>
            <a:srgbClr val="C00000"/>
          </a:solidFill>
          <a:ln/>
        </p:spPr>
      </p:sp>
      <p:sp>
        <p:nvSpPr>
          <p:cNvPr id="17" name="Text 10"/>
          <p:cNvSpPr/>
          <p:nvPr/>
        </p:nvSpPr>
        <p:spPr>
          <a:xfrm>
            <a:off x="226544" y="4746716"/>
            <a:ext cx="5233542" cy="215444"/>
          </a:xfrm>
          <a:prstGeom prst="rect">
            <a:avLst/>
          </a:prstGeom>
          <a:noFill/>
          <a:ln/>
        </p:spPr>
        <p:txBody>
          <a:bodyPr wrap="square" lIns="0" tIns="0" rIns="0" bIns="0" rtlCol="0" anchor="t">
            <a:spAutoFit/>
          </a:bodyPr>
          <a:lstStyle/>
          <a:p>
            <a:pPr marL="0" indent="0" algn="l">
              <a:buNone/>
            </a:pPr>
            <a:r>
              <a:rPr lang="en-US" sz="1400" b="1" dirty="0">
                <a:solidFill>
                  <a:srgbClr val="FFFFFF"/>
                </a:solidFill>
                <a:latin typeface="Times New Roman" panose="02020603050405020304" pitchFamily="18" charset="0"/>
                <a:ea typeface="Microsoft YaHei Light" panose="020B0502040204020203" pitchFamily="34" charset="-122"/>
                <a:cs typeface="Times New Roman" panose="02020603050405020304" pitchFamily="18" charset="0"/>
              </a:rPr>
              <a:t>Dr. Moonje Institute of Management &amp; Computer Studies, Nashik</a:t>
            </a:r>
            <a:endParaRPr lang="en-US" sz="1400" b="1"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pic>
        <p:nvPicPr>
          <p:cNvPr id="18" name="Picture 1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096300" y="4407743"/>
            <a:ext cx="1271447" cy="90001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2925366" cy="362920"/>
          </a:xfrm>
          <a:prstGeom prst="rect">
            <a:avLst/>
          </a:prstGeom>
          <a:noFill/>
          <a:ln/>
        </p:spPr>
        <p:txBody>
          <a:bodyPr wrap="square" lIns="0" tIns="0" rIns="0" bIns="85090" rtlCol="0" anchor="t">
            <a:spAutoFit/>
          </a:bodyPr>
          <a:lstStyle/>
          <a:p>
            <a:pPr marL="0" indent="0" algn="l">
              <a:buNone/>
            </a:pPr>
            <a:r>
              <a:rPr lang="en-US" b="1" dirty="0">
                <a:solidFill>
                  <a:srgbClr val="C00000"/>
                </a:solidFill>
                <a:latin typeface="Times New Roman" panose="02020603050405020304" pitchFamily="18" charset="0"/>
                <a:ea typeface="Playfair Display Bold" pitchFamily="34" charset="-122"/>
                <a:cs typeface="Times New Roman" panose="02020603050405020304" pitchFamily="18" charset="0"/>
              </a:rPr>
              <a:t>Learning from Project</a:t>
            </a:r>
            <a:endParaRPr lang="en-US" dirty="0">
              <a:latin typeface="Times New Roman" panose="02020603050405020304" pitchFamily="18" charset="0"/>
              <a:cs typeface="Times New Roman" panose="02020603050405020304" pitchFamily="18" charset="0"/>
            </a:endParaRPr>
          </a:p>
        </p:txBody>
      </p:sp>
      <p:sp>
        <p:nvSpPr>
          <p:cNvPr id="4" name="Shape 1"/>
          <p:cNvSpPr/>
          <p:nvPr/>
        </p:nvSpPr>
        <p:spPr>
          <a:xfrm>
            <a:off x="1114425" y="1194792"/>
            <a:ext cx="571500" cy="571500"/>
          </a:xfrm>
          <a:prstGeom prst="rect">
            <a:avLst/>
          </a:prstGeom>
          <a:solidFill>
            <a:srgbClr val="F8F8F8"/>
          </a:solidFill>
          <a:ln w="18288">
            <a:solidFill>
              <a:srgbClr val="C00000"/>
            </a:solidFill>
            <a:prstDash val="solid"/>
          </a:ln>
        </p:spPr>
      </p:sp>
      <p:pic>
        <p:nvPicPr>
          <p:cNvPr id="5" name="Image 1" descr="preencoded.png"/>
          <p:cNvPicPr>
            <a:picLocks noChangeAspect="1"/>
          </p:cNvPicPr>
          <p:nvPr/>
        </p:nvPicPr>
        <p:blipFill>
          <a:blip r:embed="rId4"/>
          <a:stretch>
            <a:fillRect/>
          </a:stretch>
        </p:blipFill>
        <p:spPr>
          <a:xfrm>
            <a:off x="1271588" y="1351955"/>
            <a:ext cx="257175" cy="257175"/>
          </a:xfrm>
          <a:prstGeom prst="rect">
            <a:avLst/>
          </a:prstGeom>
        </p:spPr>
      </p:pic>
      <p:sp>
        <p:nvSpPr>
          <p:cNvPr id="6" name="Text 2"/>
          <p:cNvSpPr/>
          <p:nvPr/>
        </p:nvSpPr>
        <p:spPr>
          <a:xfrm>
            <a:off x="888016" y="2045435"/>
            <a:ext cx="1024319" cy="184666"/>
          </a:xfrm>
          <a:prstGeom prst="rect">
            <a:avLst/>
          </a:prstGeom>
          <a:noFill/>
          <a:ln/>
        </p:spPr>
        <p:txBody>
          <a:bodyPr wrap="none" lIns="0" tIns="0" rIns="0" bIns="0" rtlCol="0" anchor="ctr">
            <a:spAutoFit/>
          </a:bodyPr>
          <a:lstStyle/>
          <a:p>
            <a:pPr marL="0" indent="0" algn="ctr">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Analytical Skills</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7" name="Text 3"/>
          <p:cNvSpPr/>
          <p:nvPr/>
        </p:nvSpPr>
        <p:spPr>
          <a:xfrm>
            <a:off x="400050" y="2437805"/>
            <a:ext cx="2000250" cy="866648"/>
          </a:xfrm>
          <a:prstGeom prst="rect">
            <a:avLst/>
          </a:prstGeom>
          <a:noFill/>
          <a:ln/>
        </p:spPr>
        <p:txBody>
          <a:bodyPr wrap="square" lIns="0" tIns="0" rIns="0" bIns="0" rtlCol="0" anchor="t">
            <a:spAutoFit/>
          </a:bodyPr>
          <a:lstStyle/>
          <a:p>
            <a:pPr marL="0" indent="0" algn="ctr">
              <a:lnSpc>
                <a:spcPct val="128000"/>
              </a:lnSpc>
              <a:buNone/>
            </a:pPr>
            <a:r>
              <a:rPr lang="en-US" sz="1100" dirty="0">
                <a:latin typeface="Times New Roman" panose="02020603050405020304" pitchFamily="18" charset="0"/>
                <a:ea typeface="Montserrat" pitchFamily="34" charset="-122"/>
                <a:cs typeface="Times New Roman" panose="02020603050405020304" pitchFamily="18" charset="0"/>
              </a:rPr>
              <a:t>Gained hands-on proficiency in data collection, cleaning, and advanced visualization techniques using </a:t>
            </a:r>
            <a:r>
              <a:rPr lang="en-US" sz="1100" dirty="0" smtClean="0">
                <a:latin typeface="Times New Roman" panose="02020603050405020304" pitchFamily="18" charset="0"/>
                <a:ea typeface="Montserrat" pitchFamily="34" charset="-122"/>
                <a:cs typeface="Times New Roman" panose="02020603050405020304" pitchFamily="18" charset="0"/>
              </a:rPr>
              <a:t>Excel and </a:t>
            </a:r>
            <a:r>
              <a:rPr lang="en-US" sz="1100" dirty="0">
                <a:latin typeface="Times New Roman" panose="02020603050405020304" pitchFamily="18" charset="0"/>
                <a:ea typeface="Montserrat" pitchFamily="34" charset="-122"/>
                <a:cs typeface="Times New Roman" panose="02020603050405020304" pitchFamily="18" charset="0"/>
              </a:rPr>
              <a:t>BI tools.</a:t>
            </a:r>
            <a:endParaRPr lang="en-US" sz="1100" dirty="0">
              <a:latin typeface="Times New Roman" panose="02020603050405020304" pitchFamily="18" charset="0"/>
              <a:cs typeface="Times New Roman" panose="02020603050405020304" pitchFamily="18" charset="0"/>
            </a:endParaRPr>
          </a:p>
        </p:txBody>
      </p:sp>
      <p:sp>
        <p:nvSpPr>
          <p:cNvPr id="8" name="Shape 4"/>
          <p:cNvSpPr/>
          <p:nvPr/>
        </p:nvSpPr>
        <p:spPr>
          <a:xfrm>
            <a:off x="3228975" y="1194792"/>
            <a:ext cx="571500" cy="571500"/>
          </a:xfrm>
          <a:prstGeom prst="rect">
            <a:avLst/>
          </a:prstGeom>
          <a:solidFill>
            <a:srgbClr val="F8F8F8"/>
          </a:solidFill>
          <a:ln w="18288">
            <a:solidFill>
              <a:srgbClr val="C00000"/>
            </a:solidFill>
            <a:prstDash val="solid"/>
          </a:ln>
        </p:spPr>
      </p:sp>
      <p:pic>
        <p:nvPicPr>
          <p:cNvPr id="9" name="Image 2" descr="preencoded.png"/>
          <p:cNvPicPr>
            <a:picLocks noChangeAspect="1"/>
          </p:cNvPicPr>
          <p:nvPr/>
        </p:nvPicPr>
        <p:blipFill>
          <a:blip r:embed="rId5"/>
          <a:stretch>
            <a:fillRect/>
          </a:stretch>
        </p:blipFill>
        <p:spPr>
          <a:xfrm>
            <a:off x="3370064" y="1351955"/>
            <a:ext cx="289322" cy="257175"/>
          </a:xfrm>
          <a:prstGeom prst="rect">
            <a:avLst/>
          </a:prstGeom>
        </p:spPr>
      </p:pic>
      <p:sp>
        <p:nvSpPr>
          <p:cNvPr id="10" name="Text 5"/>
          <p:cNvSpPr/>
          <p:nvPr/>
        </p:nvSpPr>
        <p:spPr>
          <a:xfrm>
            <a:off x="2716411" y="2045435"/>
            <a:ext cx="1596628" cy="184666"/>
          </a:xfrm>
          <a:prstGeom prst="rect">
            <a:avLst/>
          </a:prstGeom>
          <a:noFill/>
          <a:ln/>
        </p:spPr>
        <p:txBody>
          <a:bodyPr wrap="square" lIns="0" tIns="0" rIns="0" bIns="0" rtlCol="0" anchor="ctr">
            <a:spAutoFit/>
          </a:bodyPr>
          <a:lstStyle/>
          <a:p>
            <a:pPr marL="0" indent="0" algn="ctr">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Domain Knowledge</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11" name="Text 6"/>
          <p:cNvSpPr/>
          <p:nvPr/>
        </p:nvSpPr>
        <p:spPr>
          <a:xfrm>
            <a:off x="2514600" y="2437805"/>
            <a:ext cx="2000250" cy="866648"/>
          </a:xfrm>
          <a:prstGeom prst="rect">
            <a:avLst/>
          </a:prstGeom>
          <a:noFill/>
          <a:ln/>
        </p:spPr>
        <p:txBody>
          <a:bodyPr wrap="square" lIns="0" tIns="0" rIns="0" bIns="0" rtlCol="0" anchor="t">
            <a:spAutoFit/>
          </a:bodyPr>
          <a:lstStyle/>
          <a:p>
            <a:pPr marL="0" indent="0" algn="ctr">
              <a:lnSpc>
                <a:spcPct val="128000"/>
              </a:lnSpc>
              <a:buNone/>
            </a:pPr>
            <a:r>
              <a:rPr lang="en-US" sz="1100" dirty="0">
                <a:latin typeface="Times New Roman" panose="02020603050405020304" pitchFamily="18" charset="0"/>
                <a:ea typeface="Montserrat" pitchFamily="34" charset="-122"/>
                <a:cs typeface="Times New Roman" panose="02020603050405020304" pitchFamily="18" charset="0"/>
              </a:rPr>
              <a:t>Deepened understanding of healthcare operations, patient flow dynamics, and hospital experience management.</a:t>
            </a:r>
            <a:endParaRPr lang="en-US" sz="1100" dirty="0">
              <a:latin typeface="Times New Roman" panose="02020603050405020304" pitchFamily="18" charset="0"/>
              <a:cs typeface="Times New Roman" panose="02020603050405020304" pitchFamily="18" charset="0"/>
            </a:endParaRPr>
          </a:p>
        </p:txBody>
      </p:sp>
      <p:sp>
        <p:nvSpPr>
          <p:cNvPr id="12" name="Shape 7"/>
          <p:cNvSpPr/>
          <p:nvPr/>
        </p:nvSpPr>
        <p:spPr>
          <a:xfrm>
            <a:off x="5343525" y="1194792"/>
            <a:ext cx="571500" cy="571500"/>
          </a:xfrm>
          <a:prstGeom prst="rect">
            <a:avLst/>
          </a:prstGeom>
          <a:solidFill>
            <a:srgbClr val="F8F8F8"/>
          </a:solidFill>
          <a:ln w="18288">
            <a:solidFill>
              <a:srgbClr val="C00000"/>
            </a:solidFill>
            <a:prstDash val="solid"/>
          </a:ln>
        </p:spPr>
      </p:sp>
      <p:pic>
        <p:nvPicPr>
          <p:cNvPr id="13" name="Image 3" descr="preencoded.png"/>
          <p:cNvPicPr>
            <a:picLocks noChangeAspect="1"/>
          </p:cNvPicPr>
          <p:nvPr/>
        </p:nvPicPr>
        <p:blipFill>
          <a:blip r:embed="rId6"/>
          <a:stretch>
            <a:fillRect/>
          </a:stretch>
        </p:blipFill>
        <p:spPr>
          <a:xfrm>
            <a:off x="5532834" y="1351955"/>
            <a:ext cx="192881" cy="257175"/>
          </a:xfrm>
          <a:prstGeom prst="rect">
            <a:avLst/>
          </a:prstGeom>
        </p:spPr>
      </p:pic>
      <p:sp>
        <p:nvSpPr>
          <p:cNvPr id="14" name="Text 8"/>
          <p:cNvSpPr/>
          <p:nvPr/>
        </p:nvSpPr>
        <p:spPr>
          <a:xfrm>
            <a:off x="4965352" y="2045435"/>
            <a:ext cx="1321594" cy="184666"/>
          </a:xfrm>
          <a:prstGeom prst="rect">
            <a:avLst/>
          </a:prstGeom>
          <a:noFill/>
          <a:ln/>
        </p:spPr>
        <p:txBody>
          <a:bodyPr wrap="square" lIns="0" tIns="0" rIns="0" bIns="0" rtlCol="0" anchor="ctr">
            <a:spAutoFit/>
          </a:bodyPr>
          <a:lstStyle/>
          <a:p>
            <a:pPr marL="0" indent="0" algn="ctr">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Problem Solving</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15" name="Text 9"/>
          <p:cNvSpPr/>
          <p:nvPr/>
        </p:nvSpPr>
        <p:spPr>
          <a:xfrm>
            <a:off x="4629150" y="2437805"/>
            <a:ext cx="2000250" cy="866648"/>
          </a:xfrm>
          <a:prstGeom prst="rect">
            <a:avLst/>
          </a:prstGeom>
          <a:noFill/>
          <a:ln/>
        </p:spPr>
        <p:txBody>
          <a:bodyPr wrap="square" lIns="0" tIns="0" rIns="0" bIns="0" rtlCol="0" anchor="t">
            <a:spAutoFit/>
          </a:bodyPr>
          <a:lstStyle/>
          <a:p>
            <a:pPr marL="0" indent="0" algn="ctr">
              <a:lnSpc>
                <a:spcPct val="128000"/>
              </a:lnSpc>
              <a:buNone/>
            </a:pPr>
            <a:r>
              <a:rPr lang="en-US" sz="1100" dirty="0">
                <a:latin typeface="Times New Roman" panose="02020603050405020304" pitchFamily="18" charset="0"/>
                <a:ea typeface="Montserrat" pitchFamily="34" charset="-122"/>
                <a:cs typeface="Times New Roman" panose="02020603050405020304" pitchFamily="18" charset="0"/>
              </a:rPr>
              <a:t>Learned to apply theoretical business analytics concepts to solve complex, real-world operational challenges in a hospital setting.</a:t>
            </a:r>
            <a:endParaRPr lang="en-US" sz="1100" dirty="0">
              <a:latin typeface="Times New Roman" panose="02020603050405020304" pitchFamily="18" charset="0"/>
              <a:cs typeface="Times New Roman" panose="02020603050405020304" pitchFamily="18" charset="0"/>
            </a:endParaRPr>
          </a:p>
        </p:txBody>
      </p:sp>
      <p:sp>
        <p:nvSpPr>
          <p:cNvPr id="16" name="Shape 10"/>
          <p:cNvSpPr/>
          <p:nvPr/>
        </p:nvSpPr>
        <p:spPr>
          <a:xfrm>
            <a:off x="7458075" y="1194792"/>
            <a:ext cx="571500" cy="571500"/>
          </a:xfrm>
          <a:prstGeom prst="rect">
            <a:avLst/>
          </a:prstGeom>
          <a:solidFill>
            <a:srgbClr val="F8F8F8"/>
          </a:solidFill>
          <a:ln w="18288">
            <a:solidFill>
              <a:srgbClr val="C00000"/>
            </a:solidFill>
            <a:prstDash val="solid"/>
          </a:ln>
        </p:spPr>
      </p:sp>
      <p:pic>
        <p:nvPicPr>
          <p:cNvPr id="17" name="Image 4" descr="preencoded.png"/>
          <p:cNvPicPr>
            <a:picLocks noChangeAspect="1"/>
          </p:cNvPicPr>
          <p:nvPr/>
        </p:nvPicPr>
        <p:blipFill>
          <a:blip r:embed="rId7"/>
          <a:stretch>
            <a:fillRect/>
          </a:stretch>
        </p:blipFill>
        <p:spPr>
          <a:xfrm>
            <a:off x="7631311" y="1351955"/>
            <a:ext cx="225028" cy="257175"/>
          </a:xfrm>
          <a:prstGeom prst="rect">
            <a:avLst/>
          </a:prstGeom>
        </p:spPr>
      </p:pic>
      <p:sp>
        <p:nvSpPr>
          <p:cNvPr id="18" name="Text 11"/>
          <p:cNvSpPr/>
          <p:nvPr/>
        </p:nvSpPr>
        <p:spPr>
          <a:xfrm>
            <a:off x="6939260" y="2045435"/>
            <a:ext cx="1609130" cy="184666"/>
          </a:xfrm>
          <a:prstGeom prst="rect">
            <a:avLst/>
          </a:prstGeom>
          <a:noFill/>
          <a:ln/>
        </p:spPr>
        <p:txBody>
          <a:bodyPr wrap="square" lIns="0" tIns="0" rIns="0" bIns="0" rtlCol="0" anchor="ctr">
            <a:spAutoFit/>
          </a:bodyPr>
          <a:lstStyle/>
          <a:p>
            <a:pPr marL="0" indent="0" algn="ctr">
              <a:buNone/>
            </a:pPr>
            <a:r>
              <a:rPr lang="en-US" sz="1200" dirty="0">
                <a:solidFill>
                  <a:srgbClr val="333333"/>
                </a:solidFill>
                <a:latin typeface="Times New Roman" panose="02020603050405020304" pitchFamily="18" charset="0"/>
                <a:ea typeface="Microsoft YaHei Light" panose="020B0502040204020203" pitchFamily="34" charset="-122"/>
                <a:cs typeface="Times New Roman" panose="02020603050405020304" pitchFamily="18" charset="0"/>
              </a:rPr>
              <a:t>Professional Growth</a:t>
            </a:r>
            <a:endParaRPr lang="en-US" sz="1200"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19" name="Text 12"/>
          <p:cNvSpPr/>
          <p:nvPr/>
        </p:nvSpPr>
        <p:spPr>
          <a:xfrm>
            <a:off x="6743700" y="2437805"/>
            <a:ext cx="2000250" cy="866648"/>
          </a:xfrm>
          <a:prstGeom prst="rect">
            <a:avLst/>
          </a:prstGeom>
          <a:noFill/>
          <a:ln/>
        </p:spPr>
        <p:txBody>
          <a:bodyPr wrap="square" lIns="0" tIns="0" rIns="0" bIns="0" rtlCol="0" anchor="t">
            <a:spAutoFit/>
          </a:bodyPr>
          <a:lstStyle/>
          <a:p>
            <a:pPr marL="0" indent="0" algn="ctr">
              <a:lnSpc>
                <a:spcPct val="128000"/>
              </a:lnSpc>
              <a:buNone/>
            </a:pPr>
            <a:r>
              <a:rPr lang="en-US" sz="1100" dirty="0">
                <a:latin typeface="Times New Roman" panose="02020603050405020304" pitchFamily="18" charset="0"/>
                <a:ea typeface="Montserrat" pitchFamily="34" charset="-122"/>
                <a:cs typeface="Times New Roman" panose="02020603050405020304" pitchFamily="18" charset="0"/>
              </a:rPr>
              <a:t>Developed critical insights into the strategic role of a Business Analyst in driving efficiency within the healthcare sector.</a:t>
            </a:r>
            <a:endParaRPr lang="en-US" sz="1100" dirty="0">
              <a:latin typeface="Times New Roman" panose="02020603050405020304" pitchFamily="18" charset="0"/>
              <a:cs typeface="Times New Roman" panose="02020603050405020304" pitchFamily="18" charset="0"/>
            </a:endParaRPr>
          </a:p>
        </p:txBody>
      </p:sp>
      <p:sp>
        <p:nvSpPr>
          <p:cNvPr id="20" name="Shape 13"/>
          <p:cNvSpPr/>
          <p:nvPr/>
        </p:nvSpPr>
        <p:spPr>
          <a:xfrm>
            <a:off x="0" y="4572000"/>
            <a:ext cx="9144000" cy="571500"/>
          </a:xfrm>
          <a:prstGeom prst="rect">
            <a:avLst/>
          </a:prstGeom>
          <a:solidFill>
            <a:srgbClr val="C00000"/>
          </a:solidFill>
          <a:ln/>
        </p:spPr>
      </p:sp>
      <p:sp>
        <p:nvSpPr>
          <p:cNvPr id="21" name="Text 14"/>
          <p:cNvSpPr/>
          <p:nvPr/>
        </p:nvSpPr>
        <p:spPr>
          <a:xfrm>
            <a:off x="234973" y="4750027"/>
            <a:ext cx="5108552" cy="215444"/>
          </a:xfrm>
          <a:prstGeom prst="rect">
            <a:avLst/>
          </a:prstGeom>
          <a:noFill/>
          <a:ln/>
        </p:spPr>
        <p:txBody>
          <a:bodyPr wrap="square" lIns="0" tIns="0" rIns="0" bIns="0" rtlCol="0" anchor="t">
            <a:spAutoFit/>
          </a:bodyPr>
          <a:lstStyle/>
          <a:p>
            <a:pPr marL="0" indent="0" algn="l">
              <a:buNone/>
            </a:pPr>
            <a:r>
              <a:rPr lang="en-US" sz="1400" b="1" dirty="0">
                <a:solidFill>
                  <a:srgbClr val="FFFFFF"/>
                </a:solidFill>
                <a:latin typeface="Times New Roman" panose="02020603050405020304" pitchFamily="18" charset="0"/>
                <a:ea typeface="Microsoft YaHei Light" panose="020B0502040204020203" pitchFamily="34" charset="-122"/>
                <a:cs typeface="Times New Roman" panose="02020603050405020304" pitchFamily="18" charset="0"/>
              </a:rPr>
              <a:t>Dr. Moonje Institute of Management &amp; Computer Studies, Nashik</a:t>
            </a:r>
            <a:endParaRPr lang="en-US" sz="1400" b="1"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pic>
        <p:nvPicPr>
          <p:cNvPr id="22" name="Picture 2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096300" y="4407743"/>
            <a:ext cx="1271447" cy="90001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9734"/>
            <a:ext cx="9144000" cy="5143500"/>
          </a:xfrm>
          <a:prstGeom prst="rect">
            <a:avLst/>
          </a:prstGeom>
        </p:spPr>
      </p:pic>
      <p:sp>
        <p:nvSpPr>
          <p:cNvPr id="3" name="Text 0"/>
          <p:cNvSpPr/>
          <p:nvPr/>
        </p:nvSpPr>
        <p:spPr>
          <a:xfrm>
            <a:off x="428625" y="285750"/>
            <a:ext cx="1446609" cy="362920"/>
          </a:xfrm>
          <a:prstGeom prst="rect">
            <a:avLst/>
          </a:prstGeom>
          <a:noFill/>
          <a:ln/>
        </p:spPr>
        <p:txBody>
          <a:bodyPr wrap="square" lIns="0" tIns="0" rIns="0" bIns="85090" rtlCol="0" anchor="t">
            <a:spAutoFit/>
          </a:bodyPr>
          <a:lstStyle/>
          <a:p>
            <a:pPr marL="0" indent="0" algn="l">
              <a:buNone/>
            </a:pPr>
            <a:r>
              <a:rPr lang="en-US" b="1" dirty="0">
                <a:solidFill>
                  <a:srgbClr val="C00000"/>
                </a:solidFill>
                <a:latin typeface="Times New Roman" panose="02020603050405020304" pitchFamily="18" charset="0"/>
                <a:ea typeface="Playfair Display Bold" pitchFamily="34" charset="-122"/>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p:txBody>
      </p:sp>
      <p:sp>
        <p:nvSpPr>
          <p:cNvPr id="4" name="Text 1"/>
          <p:cNvSpPr/>
          <p:nvPr/>
        </p:nvSpPr>
        <p:spPr>
          <a:xfrm>
            <a:off x="1096287" y="1135049"/>
            <a:ext cx="6951427" cy="2166619"/>
          </a:xfrm>
          <a:prstGeom prst="rect">
            <a:avLst/>
          </a:prstGeom>
          <a:noFill/>
          <a:ln/>
        </p:spPr>
        <p:txBody>
          <a:bodyPr wrap="square" lIns="0" tIns="0" rIns="0" bIns="0" rtlCol="0" anchor="t">
            <a:spAutoFit/>
          </a:bodyPr>
          <a:lstStyle/>
          <a:p>
            <a:pPr marL="0" indent="0" algn="just">
              <a:lnSpc>
                <a:spcPct val="128000"/>
              </a:lnSpc>
              <a:buNone/>
            </a:pPr>
            <a:r>
              <a:rPr lang="en-US" sz="1100" b="1" dirty="0" smtClean="0">
                <a:latin typeface="Times New Roman" panose="02020603050405020304" pitchFamily="18" charset="0"/>
                <a:ea typeface="Montserrat Medium" pitchFamily="34" charset="-122"/>
                <a:cs typeface="Times New Roman" panose="02020603050405020304" pitchFamily="18" charset="0"/>
              </a:rPr>
              <a:t>1)Gupta</a:t>
            </a:r>
            <a:r>
              <a:rPr lang="en-US" sz="1100" b="1" dirty="0">
                <a:latin typeface="Times New Roman" panose="02020603050405020304" pitchFamily="18" charset="0"/>
                <a:ea typeface="Montserrat Medium" pitchFamily="34" charset="-122"/>
                <a:cs typeface="Times New Roman" panose="02020603050405020304" pitchFamily="18" charset="0"/>
              </a:rPr>
              <a:t>, S. (2021).</a:t>
            </a:r>
            <a:r>
              <a:rPr lang="en-US" sz="1100" dirty="0">
                <a:latin typeface="Times New Roman" panose="02020603050405020304" pitchFamily="18" charset="0"/>
                <a:ea typeface="Montserrat" pitchFamily="34" charset="-122"/>
                <a:cs typeface="Times New Roman" panose="02020603050405020304" pitchFamily="18" charset="0"/>
              </a:rPr>
              <a:t> Hospital Operations Management and Patient Flow Optimization. New Delhi: Healthcare Publications.
</a:t>
            </a:r>
            <a:r>
              <a:rPr lang="en-US" sz="1100" b="1" dirty="0">
                <a:latin typeface="Times New Roman" panose="02020603050405020304" pitchFamily="18" charset="0"/>
                <a:ea typeface="Montserrat Medium" pitchFamily="34" charset="-122"/>
                <a:cs typeface="Times New Roman" panose="02020603050405020304" pitchFamily="18" charset="0"/>
              </a:rPr>
              <a:t>2) Sharma, R. &amp; Kulkarni, P. (2020). </a:t>
            </a:r>
            <a:r>
              <a:rPr lang="en-US" sz="1100" dirty="0">
                <a:latin typeface="Times New Roman" panose="02020603050405020304" pitchFamily="18" charset="0"/>
                <a:ea typeface="Montserrat" pitchFamily="34" charset="-122"/>
                <a:cs typeface="Times New Roman" panose="02020603050405020304" pitchFamily="18" charset="0"/>
              </a:rPr>
              <a:t>“Impact of Waiting Time on Patient Satisfaction in Hospitals.” International Journal of Healthcare Management, Vol. 8, No. 2, pp. 45–52. 
</a:t>
            </a:r>
            <a:r>
              <a:rPr lang="en-US" sz="1100" b="1" dirty="0">
                <a:latin typeface="Times New Roman" panose="02020603050405020304" pitchFamily="18" charset="0"/>
                <a:ea typeface="Montserrat Medium" pitchFamily="34" charset="-122"/>
                <a:cs typeface="Times New Roman" panose="02020603050405020304" pitchFamily="18" charset="0"/>
              </a:rPr>
              <a:t>3)Kumar, V. (2019). </a:t>
            </a:r>
            <a:r>
              <a:rPr lang="en-US" sz="1100" dirty="0">
                <a:latin typeface="Times New Roman" panose="02020603050405020304" pitchFamily="18" charset="0"/>
                <a:ea typeface="Montserrat" pitchFamily="34" charset="-122"/>
                <a:cs typeface="Times New Roman" panose="02020603050405020304" pitchFamily="18" charset="0"/>
              </a:rPr>
              <a:t>Business Analytics for Healthcare Management. Mumbai: Himalaya Publishing House. 
</a:t>
            </a:r>
            <a:r>
              <a:rPr lang="en-US" sz="1100" b="1" dirty="0">
                <a:latin typeface="Times New Roman" panose="02020603050405020304" pitchFamily="18" charset="0"/>
                <a:ea typeface="Montserrat Medium" pitchFamily="34" charset="-122"/>
                <a:cs typeface="Times New Roman" panose="02020603050405020304" pitchFamily="18" charset="0"/>
              </a:rPr>
              <a:t>4)Ghosh, S. (2022).</a:t>
            </a:r>
            <a:r>
              <a:rPr lang="en-US" sz="1100" dirty="0">
                <a:latin typeface="Times New Roman" panose="02020603050405020304" pitchFamily="18" charset="0"/>
                <a:ea typeface="Montserrat" pitchFamily="34" charset="-122"/>
                <a:cs typeface="Times New Roman" panose="02020603050405020304" pitchFamily="18" charset="0"/>
              </a:rPr>
              <a:t> “Role of Queue Management Systems in Hospital Service Efficiency.” Journal of Hospital Administration, Vol. 12, No. 3, pp. 78–86. 
</a:t>
            </a:r>
            <a:r>
              <a:rPr lang="en-US" sz="1100" b="1" dirty="0">
                <a:latin typeface="Times New Roman" panose="02020603050405020304" pitchFamily="18" charset="0"/>
                <a:ea typeface="Montserrat Medium" pitchFamily="34" charset="-122"/>
                <a:cs typeface="Times New Roman" panose="02020603050405020304" pitchFamily="18" charset="0"/>
              </a:rPr>
              <a:t>5)Jain, A. &amp; Mehta, R. (2021)</a:t>
            </a:r>
            <a:r>
              <a:rPr lang="en-US" sz="1100" dirty="0">
                <a:latin typeface="Times New Roman" panose="02020603050405020304" pitchFamily="18" charset="0"/>
                <a:ea typeface="Montserrat" pitchFamily="34" charset="-122"/>
                <a:cs typeface="Times New Roman" panose="02020603050405020304" pitchFamily="18" charset="0"/>
              </a:rPr>
              <a:t>. “Patient Waiting Time Analysis Using Data Analytics.” International Journal of Business Analytics and Intelligence, Vol. 5, No. 1, pp. 21–29.
</a:t>
            </a:r>
            <a:r>
              <a:rPr lang="en-US" sz="1100" b="1" dirty="0">
                <a:latin typeface="Times New Roman" panose="02020603050405020304" pitchFamily="18" charset="0"/>
                <a:ea typeface="Montserrat Medium" pitchFamily="34" charset="-122"/>
                <a:cs typeface="Times New Roman" panose="02020603050405020304" pitchFamily="18" charset="0"/>
              </a:rPr>
              <a:t>6)World Health Organization (WHO)</a:t>
            </a:r>
            <a:r>
              <a:rPr lang="en-US" sz="1100" dirty="0">
                <a:latin typeface="Times New Roman" panose="02020603050405020304" pitchFamily="18" charset="0"/>
                <a:ea typeface="Montserrat" pitchFamily="34" charset="-122"/>
                <a:cs typeface="Times New Roman" panose="02020603050405020304" pitchFamily="18" charset="0"/>
              </a:rPr>
              <a:t>. (2022). Healthcare Service Quality and Patient Satisfaction Report. Geneva: WHO Publications.</a:t>
            </a:r>
            <a:endParaRPr lang="en-US" sz="1100" dirty="0">
              <a:latin typeface="Times New Roman" panose="02020603050405020304" pitchFamily="18" charset="0"/>
              <a:cs typeface="Times New Roman" panose="02020603050405020304" pitchFamily="18" charset="0"/>
            </a:endParaRPr>
          </a:p>
        </p:txBody>
      </p:sp>
      <p:sp>
        <p:nvSpPr>
          <p:cNvPr id="5" name="Shape 2"/>
          <p:cNvSpPr/>
          <p:nvPr/>
        </p:nvSpPr>
        <p:spPr>
          <a:xfrm>
            <a:off x="0" y="4572000"/>
            <a:ext cx="9144000" cy="571500"/>
          </a:xfrm>
          <a:prstGeom prst="rect">
            <a:avLst/>
          </a:prstGeom>
          <a:solidFill>
            <a:srgbClr val="C00000"/>
          </a:solidFill>
          <a:ln/>
        </p:spPr>
      </p:sp>
      <p:sp>
        <p:nvSpPr>
          <p:cNvPr id="6" name="Text 3"/>
          <p:cNvSpPr/>
          <p:nvPr/>
        </p:nvSpPr>
        <p:spPr>
          <a:xfrm>
            <a:off x="219966" y="4750027"/>
            <a:ext cx="5259856" cy="215444"/>
          </a:xfrm>
          <a:prstGeom prst="rect">
            <a:avLst/>
          </a:prstGeom>
          <a:noFill/>
          <a:ln/>
        </p:spPr>
        <p:txBody>
          <a:bodyPr wrap="square" lIns="0" tIns="0" rIns="0" bIns="0" rtlCol="0" anchor="t">
            <a:spAutoFit/>
          </a:bodyPr>
          <a:lstStyle/>
          <a:p>
            <a:pPr marL="0" indent="0" algn="l">
              <a:buNone/>
            </a:pPr>
            <a:r>
              <a:rPr lang="en-US" sz="1400" b="1" dirty="0">
                <a:solidFill>
                  <a:srgbClr val="FFFFFF"/>
                </a:solidFill>
                <a:latin typeface="Times New Roman" panose="02020603050405020304" pitchFamily="18" charset="0"/>
                <a:ea typeface="Microsoft YaHei Light" panose="020B0502040204020203" pitchFamily="34" charset="-122"/>
                <a:cs typeface="Times New Roman" panose="02020603050405020304" pitchFamily="18" charset="0"/>
              </a:rPr>
              <a:t>Dr. Moonje Institute of Management &amp; Computer Studies, Nashik</a:t>
            </a:r>
            <a:endParaRPr lang="en-US" sz="1400" b="1"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6300" y="4407743"/>
            <a:ext cx="1271447" cy="90001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17368"/>
            <a:ext cx="9144000" cy="5143500"/>
          </a:xfrm>
          <a:prstGeom prst="rect">
            <a:avLst/>
          </a:prstGeom>
        </p:spPr>
      </p:pic>
      <p:sp>
        <p:nvSpPr>
          <p:cNvPr id="3" name="Text 0"/>
          <p:cNvSpPr/>
          <p:nvPr/>
        </p:nvSpPr>
        <p:spPr>
          <a:xfrm>
            <a:off x="3896673" y="895318"/>
            <a:ext cx="1989534" cy="377026"/>
          </a:xfrm>
          <a:prstGeom prst="rect">
            <a:avLst/>
          </a:prstGeom>
          <a:noFill/>
          <a:ln/>
        </p:spPr>
        <p:txBody>
          <a:bodyPr wrap="square" lIns="0" tIns="0" rIns="0" bIns="0" rtlCol="0" anchor="t">
            <a:spAutoFit/>
          </a:bodyPr>
          <a:lstStyle/>
          <a:p>
            <a:pPr marL="0" indent="0" algn="ctr">
              <a:buNone/>
            </a:pPr>
            <a:r>
              <a:rPr lang="en-US" sz="2450" b="1" dirty="0">
                <a:solidFill>
                  <a:srgbClr val="C00000"/>
                </a:solidFill>
                <a:latin typeface="Times New Roman" panose="02020603050405020304" pitchFamily="18" charset="0"/>
                <a:ea typeface="Playfair Display Bold" pitchFamily="34" charset="-122"/>
                <a:cs typeface="Times New Roman" panose="02020603050405020304" pitchFamily="18" charset="0"/>
              </a:rPr>
              <a:t>THANK YOU</a:t>
            </a:r>
            <a:endParaRPr lang="en-US" sz="2450" dirty="0">
              <a:latin typeface="Times New Roman" panose="02020603050405020304" pitchFamily="18" charset="0"/>
              <a:cs typeface="Times New Roman" panose="02020603050405020304" pitchFamily="18" charset="0"/>
            </a:endParaRPr>
          </a:p>
        </p:txBody>
      </p:sp>
      <p:sp>
        <p:nvSpPr>
          <p:cNvPr id="4" name="Shape 1"/>
          <p:cNvSpPr/>
          <p:nvPr/>
        </p:nvSpPr>
        <p:spPr>
          <a:xfrm>
            <a:off x="0" y="4572000"/>
            <a:ext cx="9144000" cy="571500"/>
          </a:xfrm>
          <a:prstGeom prst="rect">
            <a:avLst/>
          </a:prstGeom>
          <a:solidFill>
            <a:srgbClr val="C00000"/>
          </a:solidFill>
          <a:ln/>
        </p:spPr>
      </p:sp>
      <p:sp>
        <p:nvSpPr>
          <p:cNvPr id="5" name="Text 2"/>
          <p:cNvSpPr/>
          <p:nvPr/>
        </p:nvSpPr>
        <p:spPr>
          <a:xfrm>
            <a:off x="187073" y="4752571"/>
            <a:ext cx="5055925" cy="215444"/>
          </a:xfrm>
          <a:prstGeom prst="rect">
            <a:avLst/>
          </a:prstGeom>
          <a:noFill/>
          <a:ln/>
        </p:spPr>
        <p:txBody>
          <a:bodyPr wrap="square" lIns="0" tIns="0" rIns="0" bIns="0" rtlCol="0" anchor="t">
            <a:spAutoFit/>
          </a:bodyPr>
          <a:lstStyle/>
          <a:p>
            <a:pPr marL="0" indent="0" algn="ctr">
              <a:buNone/>
            </a:pPr>
            <a:r>
              <a:rPr lang="en-US" sz="1400" b="1" dirty="0">
                <a:solidFill>
                  <a:srgbClr val="FFFFFF"/>
                </a:solidFill>
                <a:latin typeface="Times New Roman" panose="02020603050405020304" pitchFamily="18" charset="0"/>
                <a:ea typeface="Microsoft YaHei Light" panose="020B0502040204020203" pitchFamily="34" charset="-122"/>
                <a:cs typeface="Times New Roman" panose="02020603050405020304" pitchFamily="18" charset="0"/>
              </a:rPr>
              <a:t>Dr. Moonje Institute of Management &amp; Computer Studies, Nashik</a:t>
            </a:r>
            <a:endParaRPr lang="en-US" sz="1400" b="1"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6" name="Text 3"/>
          <p:cNvSpPr/>
          <p:nvPr/>
        </p:nvSpPr>
        <p:spPr>
          <a:xfrm>
            <a:off x="3488829" y="1500134"/>
            <a:ext cx="2714625" cy="184666"/>
          </a:xfrm>
          <a:prstGeom prst="rect">
            <a:avLst/>
          </a:prstGeom>
          <a:noFill/>
          <a:ln/>
        </p:spPr>
        <p:txBody>
          <a:bodyPr wrap="square" lIns="0" tIns="0" rIns="0" bIns="0" rtlCol="0" anchor="t">
            <a:spAutoFit/>
          </a:bodyPr>
          <a:lstStyle/>
          <a:p>
            <a:pPr marL="0" indent="0" algn="ctr">
              <a:buNone/>
            </a:pPr>
            <a:r>
              <a:rPr lang="en-US" sz="1200" b="1" dirty="0">
                <a:solidFill>
                  <a:srgbClr val="C00000"/>
                </a:solidFill>
                <a:latin typeface="Times New Roman" panose="02020603050405020304" pitchFamily="18" charset="0"/>
                <a:ea typeface="Microsoft YaHei Light" panose="020B0502040204020203" pitchFamily="34" charset="-122"/>
                <a:cs typeface="Times New Roman" panose="02020603050405020304" pitchFamily="18" charset="0"/>
              </a:rPr>
              <a:t>Name of the Student</a:t>
            </a:r>
            <a:endParaRPr lang="en-US" sz="1200" b="1"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7" name="Text 4"/>
          <p:cNvSpPr/>
          <p:nvPr/>
        </p:nvSpPr>
        <p:spPr>
          <a:xfrm>
            <a:off x="3969246" y="1693015"/>
            <a:ext cx="1753791" cy="169277"/>
          </a:xfrm>
          <a:prstGeom prst="rect">
            <a:avLst/>
          </a:prstGeom>
          <a:noFill/>
          <a:ln/>
        </p:spPr>
        <p:txBody>
          <a:bodyPr wrap="square" lIns="0" tIns="0" rIns="0" bIns="0" rtlCol="0" anchor="t">
            <a:spAutoFit/>
          </a:bodyPr>
          <a:lstStyle/>
          <a:p>
            <a:pPr marL="0" indent="0" algn="ctr">
              <a:buNone/>
            </a:pPr>
            <a:r>
              <a:rPr lang="en-US" sz="1100" dirty="0">
                <a:solidFill>
                  <a:srgbClr val="333333"/>
                </a:solidFill>
                <a:latin typeface="Times New Roman" panose="02020603050405020304" pitchFamily="18" charset="0"/>
                <a:ea typeface="Montserrat" pitchFamily="34" charset="-122"/>
                <a:cs typeface="Times New Roman" panose="02020603050405020304" pitchFamily="18" charset="0"/>
              </a:rPr>
              <a:t>Pranav Umakant Biradar</a:t>
            </a:r>
            <a:endParaRPr lang="en-US" sz="1100" dirty="0">
              <a:latin typeface="Times New Roman" panose="02020603050405020304" pitchFamily="18" charset="0"/>
              <a:cs typeface="Times New Roman" panose="02020603050405020304" pitchFamily="18" charset="0"/>
            </a:endParaRPr>
          </a:p>
        </p:txBody>
      </p:sp>
      <p:sp>
        <p:nvSpPr>
          <p:cNvPr id="8" name="Text 5"/>
          <p:cNvSpPr/>
          <p:nvPr/>
        </p:nvSpPr>
        <p:spPr>
          <a:xfrm>
            <a:off x="3468041" y="1993014"/>
            <a:ext cx="2714625" cy="184666"/>
          </a:xfrm>
          <a:prstGeom prst="rect">
            <a:avLst/>
          </a:prstGeom>
          <a:noFill/>
          <a:ln/>
        </p:spPr>
        <p:txBody>
          <a:bodyPr wrap="square" lIns="0" tIns="0" rIns="0" bIns="0" rtlCol="0" anchor="t">
            <a:spAutoFit/>
          </a:bodyPr>
          <a:lstStyle/>
          <a:p>
            <a:pPr marL="0" indent="0" algn="ctr">
              <a:buNone/>
            </a:pPr>
            <a:r>
              <a:rPr lang="en-US" sz="1200" b="1" dirty="0">
                <a:solidFill>
                  <a:srgbClr val="C00000"/>
                </a:solidFill>
                <a:latin typeface="Times New Roman" panose="02020603050405020304" pitchFamily="18" charset="0"/>
                <a:ea typeface="Microsoft YaHei Light" panose="020B0502040204020203" pitchFamily="34" charset="-122"/>
                <a:cs typeface="Times New Roman" panose="02020603050405020304" pitchFamily="18" charset="0"/>
              </a:rPr>
              <a:t>Specialization</a:t>
            </a:r>
            <a:endParaRPr lang="en-US" sz="1200" b="1"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9" name="Text 6"/>
          <p:cNvSpPr/>
          <p:nvPr/>
        </p:nvSpPr>
        <p:spPr>
          <a:xfrm>
            <a:off x="3944886" y="2185895"/>
            <a:ext cx="1760934" cy="169277"/>
          </a:xfrm>
          <a:prstGeom prst="rect">
            <a:avLst/>
          </a:prstGeom>
          <a:noFill/>
          <a:ln/>
        </p:spPr>
        <p:txBody>
          <a:bodyPr wrap="square" lIns="0" tIns="0" rIns="0" bIns="0" rtlCol="0" anchor="t">
            <a:spAutoFit/>
          </a:bodyPr>
          <a:lstStyle/>
          <a:p>
            <a:pPr marL="0" indent="0" algn="ctr">
              <a:buNone/>
            </a:pPr>
            <a:r>
              <a:rPr lang="en-US" sz="1100" dirty="0">
                <a:solidFill>
                  <a:srgbClr val="333333"/>
                </a:solidFill>
                <a:latin typeface="Times New Roman" panose="02020603050405020304" pitchFamily="18" charset="0"/>
                <a:ea typeface="Montserrat" pitchFamily="34" charset="-122"/>
                <a:cs typeface="Times New Roman" panose="02020603050405020304" pitchFamily="18" charset="0"/>
              </a:rPr>
              <a:t>MBA 1 (Business Analyst)</a:t>
            </a:r>
            <a:endParaRPr lang="en-US" sz="1100" dirty="0">
              <a:latin typeface="Times New Roman" panose="02020603050405020304" pitchFamily="18" charset="0"/>
              <a:cs typeface="Times New Roman" panose="02020603050405020304" pitchFamily="18" charset="0"/>
            </a:endParaRPr>
          </a:p>
        </p:txBody>
      </p:sp>
      <p:sp>
        <p:nvSpPr>
          <p:cNvPr id="10" name="Text 7"/>
          <p:cNvSpPr/>
          <p:nvPr/>
        </p:nvSpPr>
        <p:spPr>
          <a:xfrm>
            <a:off x="3468041" y="2880052"/>
            <a:ext cx="2714625" cy="184666"/>
          </a:xfrm>
          <a:prstGeom prst="rect">
            <a:avLst/>
          </a:prstGeom>
          <a:noFill/>
          <a:ln/>
        </p:spPr>
        <p:txBody>
          <a:bodyPr wrap="square" lIns="0" tIns="0" rIns="0" bIns="0" rtlCol="0" anchor="t">
            <a:spAutoFit/>
          </a:bodyPr>
          <a:lstStyle/>
          <a:p>
            <a:pPr marL="0" indent="0" algn="ctr">
              <a:buNone/>
            </a:pPr>
            <a:r>
              <a:rPr lang="en-US" sz="1200" b="1" dirty="0">
                <a:solidFill>
                  <a:srgbClr val="C00000"/>
                </a:solidFill>
                <a:latin typeface="Times New Roman" panose="02020603050405020304" pitchFamily="18" charset="0"/>
                <a:ea typeface="Microsoft YaHei Light" panose="020B0502040204020203" pitchFamily="34" charset="-122"/>
                <a:cs typeface="Times New Roman" panose="02020603050405020304" pitchFamily="18" charset="0"/>
              </a:rPr>
              <a:t>Name of the </a:t>
            </a:r>
            <a:r>
              <a:rPr lang="en-US" sz="1200" b="1" dirty="0" smtClean="0">
                <a:solidFill>
                  <a:srgbClr val="C00000"/>
                </a:solidFill>
                <a:latin typeface="Times New Roman" panose="02020603050405020304" pitchFamily="18" charset="0"/>
                <a:ea typeface="Microsoft YaHei Light" panose="020B0502040204020203" pitchFamily="34" charset="-122"/>
                <a:cs typeface="Times New Roman" panose="02020603050405020304" pitchFamily="18" charset="0"/>
              </a:rPr>
              <a:t>Project Guide</a:t>
            </a:r>
            <a:endParaRPr lang="en-US" sz="1200" b="1"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11" name="Text 8"/>
          <p:cNvSpPr/>
          <p:nvPr/>
        </p:nvSpPr>
        <p:spPr>
          <a:xfrm>
            <a:off x="4085082" y="3072934"/>
            <a:ext cx="1480542" cy="169277"/>
          </a:xfrm>
          <a:prstGeom prst="rect">
            <a:avLst/>
          </a:prstGeom>
          <a:noFill/>
          <a:ln/>
        </p:spPr>
        <p:txBody>
          <a:bodyPr wrap="square" lIns="0" tIns="0" rIns="0" bIns="0" rtlCol="0" anchor="t">
            <a:spAutoFit/>
          </a:bodyPr>
          <a:lstStyle/>
          <a:p>
            <a:pPr marL="0" indent="0" algn="ctr">
              <a:buNone/>
            </a:pPr>
            <a:r>
              <a:rPr lang="en-US" sz="1100" dirty="0">
                <a:solidFill>
                  <a:srgbClr val="333333"/>
                </a:solidFill>
                <a:latin typeface="Times New Roman" panose="02020603050405020304" pitchFamily="18" charset="0"/>
                <a:ea typeface="Montserrat" pitchFamily="34" charset="-122"/>
                <a:cs typeface="Times New Roman" panose="02020603050405020304" pitchFamily="18" charset="0"/>
              </a:rPr>
              <a:t>Dr. Radhika Khairnar</a:t>
            </a:r>
            <a:endParaRPr lang="en-US" sz="1100" dirty="0">
              <a:latin typeface="Times New Roman" panose="02020603050405020304" pitchFamily="18" charset="0"/>
              <a:cs typeface="Times New Roman" panose="02020603050405020304" pitchFamily="18" charset="0"/>
            </a:endParaRPr>
          </a:p>
        </p:txBody>
      </p:sp>
      <p:sp>
        <p:nvSpPr>
          <p:cNvPr id="12" name="Text 9"/>
          <p:cNvSpPr/>
          <p:nvPr/>
        </p:nvSpPr>
        <p:spPr>
          <a:xfrm>
            <a:off x="3488829" y="2454382"/>
            <a:ext cx="2714625" cy="184666"/>
          </a:xfrm>
          <a:prstGeom prst="rect">
            <a:avLst/>
          </a:prstGeom>
          <a:noFill/>
          <a:ln/>
        </p:spPr>
        <p:txBody>
          <a:bodyPr wrap="square" lIns="0" tIns="0" rIns="0" bIns="0" rtlCol="0" anchor="t">
            <a:spAutoFit/>
          </a:bodyPr>
          <a:lstStyle/>
          <a:p>
            <a:pPr marL="0" indent="0" algn="ctr">
              <a:buNone/>
            </a:pPr>
            <a:r>
              <a:rPr lang="en-US" sz="1200" b="1" dirty="0">
                <a:solidFill>
                  <a:srgbClr val="C00000"/>
                </a:solidFill>
                <a:latin typeface="Times New Roman" panose="02020603050405020304" pitchFamily="18" charset="0"/>
                <a:ea typeface="Microsoft YaHei Light" panose="020B0502040204020203" pitchFamily="34" charset="-122"/>
                <a:cs typeface="Times New Roman" panose="02020603050405020304" pitchFamily="18" charset="0"/>
              </a:rPr>
              <a:t>Roll No.</a:t>
            </a:r>
            <a:endParaRPr lang="en-US" sz="1200" b="1" dirty="0">
              <a:latin typeface="Times New Roman" panose="02020603050405020304" pitchFamily="18" charset="0"/>
              <a:ea typeface="Microsoft YaHei Light" panose="020B0502040204020203" pitchFamily="34" charset="-122"/>
              <a:cs typeface="Times New Roman" panose="02020603050405020304" pitchFamily="18" charset="0"/>
            </a:endParaRPr>
          </a:p>
        </p:txBody>
      </p:sp>
      <p:sp>
        <p:nvSpPr>
          <p:cNvPr id="13" name="Text 10"/>
          <p:cNvSpPr/>
          <p:nvPr/>
        </p:nvSpPr>
        <p:spPr>
          <a:xfrm>
            <a:off x="4740343" y="2647263"/>
            <a:ext cx="211596" cy="169277"/>
          </a:xfrm>
          <a:prstGeom prst="rect">
            <a:avLst/>
          </a:prstGeom>
          <a:noFill/>
          <a:ln/>
        </p:spPr>
        <p:txBody>
          <a:bodyPr wrap="none" lIns="0" tIns="0" rIns="0" bIns="0" rtlCol="0" anchor="t">
            <a:spAutoFit/>
          </a:bodyPr>
          <a:lstStyle/>
          <a:p>
            <a:pPr marL="0" indent="0" algn="ctr">
              <a:buNone/>
            </a:pPr>
            <a:r>
              <a:rPr lang="en-US" sz="1100" dirty="0">
                <a:solidFill>
                  <a:srgbClr val="333333"/>
                </a:solidFill>
                <a:latin typeface="Times New Roman" panose="02020603050405020304" pitchFamily="18" charset="0"/>
                <a:ea typeface="Montserrat" pitchFamily="34" charset="-122"/>
                <a:cs typeface="Times New Roman" panose="02020603050405020304" pitchFamily="18" charset="0"/>
              </a:rPr>
              <a:t>254</a:t>
            </a:r>
            <a:endParaRPr lang="en-US" sz="1100" dirty="0">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6300" y="4407743"/>
            <a:ext cx="1271447" cy="90001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2912</TotalTime>
  <Words>1287</Words>
  <Application>Microsoft Office PowerPoint</Application>
  <PresentationFormat>On-screen Show (16:9)</PresentationFormat>
  <Paragraphs>142</Paragraphs>
  <Slides>14</Slides>
  <Notes>14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Microsoft YaHei Light</vt:lpstr>
      <vt:lpstr>Arial</vt:lpstr>
      <vt:lpstr>Calibri</vt:lpstr>
      <vt:lpstr>Montserrat</vt:lpstr>
      <vt:lpstr>Montserrat Medium</vt:lpstr>
      <vt:lpstr>Palatino Linotype</vt:lpstr>
      <vt:lpstr>Playfair Display</vt:lpstr>
      <vt:lpstr>Playfair Display 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account</cp:lastModifiedBy>
  <cp:revision>23</cp:revision>
  <dcterms:created xsi:type="dcterms:W3CDTF">2026-05-08T17:07:49Z</dcterms:created>
  <dcterms:modified xsi:type="dcterms:W3CDTF">2026-06-30T18:16:30Z</dcterms:modified>
</cp:coreProperties>
</file>